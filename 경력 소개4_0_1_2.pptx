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7" r:id="rId7"/>
    <p:sldId id="286" r:id="rId8"/>
    <p:sldId id="292" r:id="rId9"/>
    <p:sldId id="293" r:id="rId10"/>
    <p:sldId id="290" r:id="rId11"/>
    <p:sldId id="291" r:id="rId12"/>
    <p:sldId id="289" r:id="rId13"/>
    <p:sldId id="288" r:id="rId14"/>
    <p:sldId id="287" r:id="rId15"/>
    <p:sldId id="285" r:id="rId16"/>
    <p:sldId id="284" r:id="rId17"/>
    <p:sldId id="283" r:id="rId18"/>
    <p:sldId id="268" r:id="rId19"/>
    <p:sldId id="282" r:id="rId20"/>
    <p:sldId id="266" r:id="rId21"/>
    <p:sldId id="263" r:id="rId22"/>
    <p:sldId id="272" r:id="rId23"/>
    <p:sldId id="273" r:id="rId24"/>
    <p:sldId id="275" r:id="rId25"/>
    <p:sldId id="279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EFE"/>
    <a:srgbClr val="FF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8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CC2EA-0321-4662-A54D-F61AD9E49AA7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21433-AE4D-4526-A4F2-08A804BF33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21433-AE4D-4526-A4F2-08A804BF33E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21433-AE4D-4526-A4F2-08A804BF33E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21433-AE4D-4526-A4F2-08A804BF33E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21433-AE4D-4526-A4F2-08A804BF33E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21433-AE4D-4526-A4F2-08A804BF33E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한쪽 모서리는 잘리고 다른 쪽 모서리는 둥근 사각형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각 삼각형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10" name="자유형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8F1E531-28DE-4FDF-9DD7-6ECF540A645D}" type="datetimeFigureOut">
              <a:rPr lang="ko-KR" altLang="en-US" smtClean="0"/>
              <a:pPr/>
              <a:t>2026-01-16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92FBF-FFC9-42CF-B0E1-0C3AD56411F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자유형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자유형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1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1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 anchorCtr="1"/>
          <a:lstStyle/>
          <a:p>
            <a:r>
              <a:rPr lang="ko-KR" altLang="en-US" dirty="0" smtClean="0"/>
              <a:t>경력 소개서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z="4800" dirty="0" smtClean="0"/>
              <a:t>박정환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ctr" anchorCtr="1"/>
          <a:lstStyle/>
          <a:p>
            <a:r>
              <a:rPr lang="ko-KR" altLang="en-US" dirty="0" smtClean="0"/>
              <a:t>학력사항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000100" y="2214554"/>
          <a:ext cx="6858047" cy="3000396"/>
        </p:xfrm>
        <a:graphic>
          <a:graphicData uri="http://schemas.openxmlformats.org/drawingml/2006/table">
            <a:tbl>
              <a:tblPr/>
              <a:tblGrid>
                <a:gridCol w="1000132"/>
                <a:gridCol w="1214446"/>
                <a:gridCol w="1643612"/>
                <a:gridCol w="777596"/>
                <a:gridCol w="1328653"/>
                <a:gridCol w="893608"/>
              </a:tblGrid>
              <a:tr h="7500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구분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재학기간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학교명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소재지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학과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상태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75009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대학원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de-DE" sz="1000" kern="100" dirty="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1997/3 ~ 1999</a:t>
                      </a:r>
                      <a:r>
                        <a:rPr lang="en-US" sz="1000" kern="100" dirty="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/</a:t>
                      </a:r>
                      <a:r>
                        <a:rPr lang="de-DE" sz="1000" kern="100" dirty="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3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 smtClean="0">
                          <a:latin typeface="Times New Roman"/>
                          <a:ea typeface="굴림"/>
                          <a:cs typeface="Times New Roman"/>
                        </a:rPr>
                        <a:t>연세대학원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서울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물리학과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졸업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09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대학교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de-DE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1988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/</a:t>
                      </a:r>
                      <a:r>
                        <a:rPr lang="de-DE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3~ 1997</a:t>
                      </a:r>
                      <a:r>
                        <a:rPr lang="en-US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/</a:t>
                      </a:r>
                      <a:r>
                        <a:rPr lang="de-DE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2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포항공과 대학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포항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물리학과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latin typeface="Times New Roman"/>
                          <a:ea typeface="맑은 고딕"/>
                          <a:cs typeface="Times New Roman"/>
                        </a:rPr>
                        <a:t>졸업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09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고등학교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latin typeface="맑은 고딕"/>
                          <a:ea typeface="굴림"/>
                          <a:cs typeface="Times New Roman"/>
                        </a:rPr>
                        <a:t>1985/3 ~1988/2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전주고등학교</a:t>
                      </a:r>
                      <a:endParaRPr lang="ko-KR" sz="10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전주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sz="1000" kern="100" dirty="0">
                        <a:latin typeface="맑은 고딕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latin typeface="Times New Roman"/>
                          <a:ea typeface="맑은 고딕"/>
                          <a:cs typeface="Times New Roman"/>
                        </a:rPr>
                        <a:t>졸업</a:t>
                      </a:r>
                      <a:endParaRPr lang="ko-KR" sz="10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ctr" anchorCtr="1"/>
          <a:lstStyle/>
          <a:p>
            <a:r>
              <a:rPr lang="ko-KR" altLang="en-US" dirty="0" smtClean="0"/>
              <a:t>경력 요약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14347" y="2285992"/>
          <a:ext cx="7715305" cy="4341516"/>
        </p:xfrm>
        <a:graphic>
          <a:graphicData uri="http://schemas.openxmlformats.org/drawingml/2006/table">
            <a:tbl>
              <a:tblPr/>
              <a:tblGrid>
                <a:gridCol w="1528504"/>
                <a:gridCol w="1528504"/>
                <a:gridCol w="1515025"/>
                <a:gridCol w="1928826"/>
                <a:gridCol w="1214446"/>
              </a:tblGrid>
              <a:tr h="58102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재직기간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기업명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부서명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직위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주요업무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근로형태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kern="100" dirty="0" smtClean="0">
                          <a:latin typeface="Times New Roman"/>
                          <a:ea typeface="굴림"/>
                          <a:cs typeface="Times New Roman"/>
                        </a:rPr>
                        <a:t>2025.05~2026.12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오투오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연구소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수석연구원</a:t>
                      </a: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광고영상 제작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S/W 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개발 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정규직</a:t>
                      </a: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kern="100" dirty="0" smtClean="0">
                          <a:latin typeface="Times New Roman"/>
                          <a:ea typeface="굴림"/>
                          <a:cs typeface="Times New Roman"/>
                        </a:rPr>
                        <a:t>2022.06~2025.05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파워보이스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연구소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수석연구원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kern="100" baseline="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STT </a:t>
                      </a:r>
                      <a:r>
                        <a:rPr lang="ko-KR" altLang="en-US" sz="1200" kern="100" baseline="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백엔드</a:t>
                      </a:r>
                      <a:r>
                        <a:rPr lang="ko-KR" altLang="en-US" sz="1200" kern="100" baseline="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 개발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정규직</a:t>
                      </a: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kern="100" dirty="0" smtClean="0">
                          <a:latin typeface="Times New Roman"/>
                          <a:ea typeface="굴림"/>
                          <a:cs typeface="Times New Roman"/>
                        </a:rPr>
                        <a:t>2020.01~2022.06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바인텔레콤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연구소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수석연구원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군통신장비용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S/W 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개발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정규직</a:t>
                      </a: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kern="100" dirty="0" smtClean="0">
                          <a:latin typeface="Times New Roman"/>
                          <a:ea typeface="굴림"/>
                          <a:cs typeface="Times New Roman"/>
                        </a:rPr>
                        <a:t>2018.08~2019.02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스마일게이트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딥러닝연구팀</a:t>
                      </a:r>
                      <a:r>
                        <a:rPr lang="en-US" altLang="ko-KR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차장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추천시스템관련 </a:t>
                      </a:r>
                      <a:r>
                        <a:rPr lang="ko-KR" altLang="en-US" sz="1200" kern="100" dirty="0" err="1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딥러닝</a:t>
                      </a: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모델 개발 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맑은 고딕"/>
                          <a:ea typeface="굴림"/>
                          <a:cs typeface="Times New Roman"/>
                        </a:rPr>
                        <a:t>2018.03~</a:t>
                      </a:r>
                      <a:r>
                        <a:rPr lang="en-US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2018.5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Times New Roman"/>
                          <a:ea typeface="맑은 고딕"/>
                          <a:cs typeface="Times New Roman"/>
                        </a:rPr>
                        <a:t>딥노이드</a:t>
                      </a:r>
                      <a:r>
                        <a:rPr lang="ko-KR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수석연구원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 err="1" smtClean="0">
                          <a:latin typeface="Times New Roman"/>
                          <a:ea typeface="맑은 고딕"/>
                          <a:cs typeface="Times New Roman"/>
                        </a:rPr>
                        <a:t>딥러닝기반</a:t>
                      </a:r>
                      <a:r>
                        <a:rPr lang="ko-KR" altLang="en-US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 의료영상진단        </a:t>
                      </a:r>
                      <a:r>
                        <a:rPr lang="en-US" altLang="ko-KR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S/W </a:t>
                      </a:r>
                      <a:r>
                        <a:rPr lang="ko-KR" altLang="en-US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개발 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맑은 고딕"/>
                          <a:ea typeface="굴림"/>
                          <a:cs typeface="Times New Roman"/>
                        </a:rPr>
                        <a:t>2013.05~</a:t>
                      </a:r>
                      <a:r>
                        <a:rPr lang="en-US" sz="1200" kern="100" dirty="0" smtClean="0">
                          <a:latin typeface="Times New Roman"/>
                          <a:ea typeface="맑은 고딕"/>
                          <a:cs typeface="Times New Roman"/>
                        </a:rPr>
                        <a:t>2017.11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 err="1">
                          <a:latin typeface="Times New Roman"/>
                          <a:ea typeface="맑은 고딕"/>
                          <a:cs typeface="Times New Roman"/>
                        </a:rPr>
                        <a:t>일리시스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수석연구원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웹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영상 분석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S/W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342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굴림"/>
                          <a:cs typeface="Times New Roman"/>
                        </a:rPr>
                        <a:t>2011.08~2013.4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 err="1">
                          <a:latin typeface="Times New Roman"/>
                          <a:ea typeface="맑은 고딕"/>
                          <a:cs typeface="Times New Roman"/>
                        </a:rPr>
                        <a:t>지우미디어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수석연구원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 err="1">
                          <a:latin typeface="Times New Roman"/>
                          <a:ea typeface="맑은 고딕"/>
                          <a:cs typeface="Times New Roman"/>
                        </a:rPr>
                        <a:t>안드로이드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 err="1">
                          <a:latin typeface="Times New Roman"/>
                          <a:ea typeface="맑은 고딕"/>
                          <a:cs typeface="Times New Roman"/>
                        </a:rPr>
                        <a:t>셋탑박스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 개발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맑은 고딕"/>
                          <a:ea typeface="굴림"/>
                          <a:cs typeface="Times New Roman"/>
                        </a:rPr>
                        <a:t>2008.01~2011.7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가온미디어㈜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책임연구원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굴림"/>
                          <a:cs typeface="Times New Roman"/>
                        </a:rPr>
                        <a:t>HBBTV/IPTV 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맑은 고딕"/>
                          <a:ea typeface="굴림"/>
                          <a:cs typeface="Times New Roman"/>
                        </a:rPr>
                        <a:t>2007.04~2008.01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와이즈임베드㈜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선임연구원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굴림"/>
                          <a:cs typeface="Times New Roman"/>
                        </a:rPr>
                        <a:t>IPTV 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맑은 고딕"/>
                          <a:ea typeface="굴림"/>
                          <a:cs typeface="Times New Roman"/>
                        </a:rPr>
                        <a:t>2001.08~2007.01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모다정보통신㈜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선임연구원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휴대폰</a:t>
                      </a:r>
                      <a:r>
                        <a:rPr lang="en-US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 S/W 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 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맑은 고딕"/>
                          <a:ea typeface="굴림"/>
                          <a:cs typeface="Times New Roman"/>
                        </a:rPr>
                        <a:t>2000,10~2001.07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코넷엔지니어링㈜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주임연구원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굴림"/>
                          <a:cs typeface="Times New Roman"/>
                        </a:rPr>
                        <a:t>ITS S/W 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14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맑은 고딕"/>
                          <a:ea typeface="굴림"/>
                          <a:cs typeface="Times New Roman"/>
                        </a:rPr>
                        <a:t>2000.04~2000.09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한국정보통신기술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연구소</a:t>
                      </a:r>
                      <a:r>
                        <a:rPr lang="en-US" sz="1200" kern="100">
                          <a:latin typeface="Times New Roman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>
                          <a:latin typeface="Times New Roman"/>
                          <a:ea typeface="맑은 고딕"/>
                          <a:cs typeface="Times New Roman"/>
                        </a:rPr>
                        <a:t>연구원</a:t>
                      </a:r>
                      <a:endParaRPr lang="ko-KR" sz="1200" kern="10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굴림"/>
                          <a:cs typeface="Times New Roman"/>
                        </a:rPr>
                        <a:t>GIS S/W </a:t>
                      </a: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개발 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맑은 고딕"/>
                          <a:cs typeface="Times New Roman"/>
                        </a:rPr>
                        <a:t>정규직</a:t>
                      </a:r>
                      <a:endParaRPr lang="ko-KR" sz="1200" kern="100" dirty="0">
                        <a:latin typeface="Times New Roman"/>
                        <a:ea typeface="굴림"/>
                        <a:cs typeface="Times New Roman"/>
                      </a:endParaRPr>
                    </a:p>
                  </a:txBody>
                  <a:tcPr marL="65633" marR="65633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t" anchorCtr="0">
            <a:normAutofit fontScale="90000"/>
          </a:bodyPr>
          <a:lstStyle/>
          <a:p>
            <a:r>
              <a:rPr lang="ko-KR" altLang="en-US" dirty="0" smtClean="0"/>
              <a:t>업무상 주요 강점 및 핵심역량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8596" y="1571612"/>
            <a:ext cx="8229600" cy="5143512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pPr lvl="0">
              <a:buFont typeface="Wingdings" pitchFamily="2" charset="2"/>
              <a:buChar char="Ø"/>
            </a:pPr>
            <a:endParaRPr lang="en-US" dirty="0" smtClean="0"/>
          </a:p>
          <a:p>
            <a:pPr lvl="0">
              <a:buFont typeface="Wingdings" pitchFamily="2" charset="2"/>
              <a:buChar char="Ø"/>
            </a:pPr>
            <a:r>
              <a:rPr lang="en-US" altLang="ko-KR" sz="5600" dirty="0" smtClean="0"/>
              <a:t>S/W </a:t>
            </a:r>
            <a:r>
              <a:rPr lang="ko-KR" altLang="en-US" sz="5600" dirty="0" smtClean="0"/>
              <a:t>개발 경력 </a:t>
            </a:r>
            <a:r>
              <a:rPr lang="en-US" altLang="ko-KR" sz="5600" dirty="0" smtClean="0"/>
              <a:t>- </a:t>
            </a:r>
            <a:r>
              <a:rPr lang="ko-KR" altLang="en-US" sz="5600" dirty="0" smtClean="0"/>
              <a:t>총 </a:t>
            </a:r>
            <a:r>
              <a:rPr lang="en-US" altLang="ko-KR" sz="5600" dirty="0" smtClean="0"/>
              <a:t>24</a:t>
            </a:r>
            <a:r>
              <a:rPr lang="ko-KR" altLang="en-US" sz="5600" dirty="0" smtClean="0"/>
              <a:t>년 </a:t>
            </a:r>
            <a:r>
              <a:rPr lang="en-US" altLang="ko-KR" sz="5600" dirty="0" smtClean="0"/>
              <a:t>0</a:t>
            </a:r>
            <a:r>
              <a:rPr lang="ko-KR" altLang="en-US" sz="5600" dirty="0" smtClean="0"/>
              <a:t>개월 </a:t>
            </a:r>
            <a:r>
              <a:rPr lang="en-US" sz="5600" dirty="0" smtClean="0"/>
              <a:t> </a:t>
            </a:r>
            <a:endParaRPr lang="en-US" sz="5600" dirty="0" smtClean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다양한 </a:t>
            </a:r>
            <a:r>
              <a:rPr lang="en-US" altLang="ko-KR" sz="5600" dirty="0" smtClean="0"/>
              <a:t>S/W </a:t>
            </a:r>
            <a:r>
              <a:rPr lang="ko-KR" altLang="en-US" sz="5600" dirty="0" smtClean="0"/>
              <a:t>개발을 통한  </a:t>
            </a:r>
            <a:r>
              <a:rPr lang="en-US" altLang="ko-KR" sz="5600" dirty="0" smtClean="0"/>
              <a:t>S/W </a:t>
            </a:r>
            <a:r>
              <a:rPr lang="ko-KR" altLang="en-US" sz="5600" dirty="0" smtClean="0"/>
              <a:t>구조 설계 경험 보유 </a:t>
            </a:r>
            <a:endParaRPr lang="en-US" altLang="ko-KR" sz="5600" dirty="0" smtClean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광고 영상 제작 </a:t>
            </a:r>
            <a:r>
              <a:rPr lang="ko-KR" altLang="en-US" sz="5600" dirty="0" err="1" smtClean="0"/>
              <a:t>솔류션</a:t>
            </a:r>
            <a:r>
              <a:rPr lang="ko-KR" altLang="en-US" sz="5600" dirty="0" smtClean="0"/>
              <a:t> 개발 </a:t>
            </a:r>
            <a:endParaRPr lang="en-US" altLang="ko-KR" sz="5600" dirty="0" smtClean="0"/>
          </a:p>
          <a:p>
            <a:pPr lvl="0">
              <a:buFont typeface="Wingdings" pitchFamily="2" charset="2"/>
              <a:buChar char="Ø"/>
            </a:pPr>
            <a:r>
              <a:rPr lang="en-US" altLang="ko-KR" sz="5600" dirty="0" smtClean="0"/>
              <a:t>AI </a:t>
            </a:r>
            <a:r>
              <a:rPr lang="ko-KR" altLang="en-US" sz="5600" dirty="0" smtClean="0"/>
              <a:t>상담 </a:t>
            </a:r>
            <a:r>
              <a:rPr lang="ko-KR" altLang="en-US" sz="5600" dirty="0" err="1" smtClean="0"/>
              <a:t>복지사</a:t>
            </a:r>
            <a:r>
              <a:rPr lang="ko-KR" altLang="en-US" sz="5600" dirty="0" smtClean="0"/>
              <a:t> </a:t>
            </a:r>
            <a:r>
              <a:rPr lang="en-US" altLang="ko-KR" sz="5600" dirty="0" smtClean="0"/>
              <a:t>S/W </a:t>
            </a:r>
            <a:r>
              <a:rPr lang="ko-KR" altLang="en-US" sz="5600" dirty="0" smtClean="0"/>
              <a:t>개발 </a:t>
            </a:r>
          </a:p>
          <a:p>
            <a:pPr lvl="0">
              <a:buFont typeface="Wingdings" pitchFamily="2" charset="2"/>
              <a:buChar char="Ø"/>
            </a:pPr>
            <a:r>
              <a:rPr lang="en-US" altLang="ko-KR" sz="5600" dirty="0" smtClean="0"/>
              <a:t>AI </a:t>
            </a:r>
            <a:r>
              <a:rPr lang="ko-KR" altLang="en-US" sz="5600" dirty="0" smtClean="0"/>
              <a:t>스마트 </a:t>
            </a:r>
            <a:r>
              <a:rPr lang="ko-KR" altLang="en-US" sz="5600" dirty="0" err="1" smtClean="0"/>
              <a:t>홈서버</a:t>
            </a:r>
            <a:r>
              <a:rPr lang="ko-KR" altLang="en-US" sz="5600" dirty="0" smtClean="0"/>
              <a:t> 개발 </a:t>
            </a:r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곤충로봇 </a:t>
            </a:r>
            <a:r>
              <a:rPr lang="en-US" altLang="ko-KR" sz="5600" dirty="0" smtClean="0"/>
              <a:t>S/W </a:t>
            </a:r>
            <a:r>
              <a:rPr lang="ko-KR" altLang="en-US" sz="5600" dirty="0" smtClean="0"/>
              <a:t>개발</a:t>
            </a:r>
            <a:endParaRPr lang="en-US" sz="5600" dirty="0" smtClean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강화학습 기반 </a:t>
            </a:r>
            <a:r>
              <a:rPr lang="ko-KR" altLang="en-US" sz="5600" dirty="0" smtClean="0"/>
              <a:t>이미지 </a:t>
            </a:r>
            <a:r>
              <a:rPr lang="en-US" altLang="ko-KR" sz="5600" dirty="0" smtClean="0"/>
              <a:t> </a:t>
            </a:r>
            <a:r>
              <a:rPr lang="en-US" altLang="ko-KR" sz="5600" dirty="0" smtClean="0"/>
              <a:t>Cropping  </a:t>
            </a:r>
            <a:r>
              <a:rPr lang="en-US" altLang="ko-KR" sz="5600" dirty="0" smtClean="0"/>
              <a:t> AI </a:t>
            </a:r>
            <a:r>
              <a:rPr lang="ko-KR" altLang="en-US" sz="5600" dirty="0" smtClean="0"/>
              <a:t>모델 </a:t>
            </a:r>
            <a:r>
              <a:rPr lang="ko-KR" altLang="en-US" sz="5600" dirty="0" smtClean="0"/>
              <a:t>개발 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en-US" sz="5400" dirty="0" smtClean="0"/>
              <a:t>View Finding Network Study</a:t>
            </a:r>
          </a:p>
          <a:p>
            <a:pPr lvl="1">
              <a:buFont typeface="Wingdings" pitchFamily="2" charset="2"/>
              <a:buChar char="Ø"/>
            </a:pPr>
            <a:r>
              <a:rPr lang="en-US" sz="5400" dirty="0" smtClean="0"/>
              <a:t>Aesthetics Aware Reinforcement Learning </a:t>
            </a:r>
            <a:r>
              <a:rPr lang="ko-KR" altLang="en-US" sz="5400" dirty="0" smtClean="0"/>
              <a:t>모델 </a:t>
            </a:r>
            <a:r>
              <a:rPr lang="en-US" altLang="ko-KR" sz="5400" dirty="0" smtClean="0"/>
              <a:t>Study &amp; Training </a:t>
            </a:r>
            <a:r>
              <a:rPr lang="ko-KR" altLang="en-US" sz="5400" dirty="0" smtClean="0"/>
              <a:t>모델 개발 </a:t>
            </a:r>
            <a:endParaRPr lang="en-US" sz="5400" dirty="0" smtClean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err="1" smtClean="0"/>
              <a:t>딥러닝</a:t>
            </a:r>
            <a:r>
              <a:rPr lang="ko-KR" altLang="en-US" sz="5600" dirty="0" smtClean="0"/>
              <a:t> 기반</a:t>
            </a:r>
            <a:r>
              <a:rPr lang="en-US" altLang="ko-KR" sz="5600" dirty="0" smtClean="0"/>
              <a:t> </a:t>
            </a:r>
            <a:r>
              <a:rPr lang="ko-KR" altLang="en-US" sz="5600" dirty="0" smtClean="0"/>
              <a:t>의료 영상 진단 </a:t>
            </a:r>
            <a:r>
              <a:rPr lang="en-US" altLang="ko-KR" sz="5600" dirty="0" smtClean="0"/>
              <a:t>S/W </a:t>
            </a:r>
            <a:r>
              <a:rPr lang="ko-KR" altLang="en-US" sz="5600" dirty="0" smtClean="0"/>
              <a:t>개발 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5400" dirty="0" smtClean="0"/>
              <a:t>객체 </a:t>
            </a:r>
            <a:r>
              <a:rPr lang="ko-KR" altLang="en-US" sz="5400" dirty="0" err="1" smtClean="0"/>
              <a:t>검출및</a:t>
            </a:r>
            <a:r>
              <a:rPr lang="ko-KR" altLang="en-US" sz="5400" dirty="0" smtClean="0"/>
              <a:t> </a:t>
            </a:r>
            <a:r>
              <a:rPr lang="ko-KR" altLang="en-US" sz="5400" dirty="0" err="1" smtClean="0"/>
              <a:t>세그멘테이션</a:t>
            </a:r>
            <a:r>
              <a:rPr lang="ko-KR" altLang="en-US" sz="5400" dirty="0" smtClean="0"/>
              <a:t> 관련 </a:t>
            </a:r>
            <a:r>
              <a:rPr lang="en-US" altLang="ko-KR" sz="5400" dirty="0" smtClean="0"/>
              <a:t>CNN </a:t>
            </a:r>
            <a:r>
              <a:rPr lang="ko-KR" altLang="en-US" sz="5400" dirty="0" smtClean="0"/>
              <a:t>모델 </a:t>
            </a:r>
            <a:r>
              <a:rPr lang="en-US" altLang="ko-KR" sz="5400" dirty="0" smtClean="0"/>
              <a:t>Study( </a:t>
            </a:r>
            <a:r>
              <a:rPr lang="en-US" altLang="ko-KR" sz="5400" dirty="0" err="1" smtClean="0"/>
              <a:t>AlexNet</a:t>
            </a:r>
            <a:r>
              <a:rPr lang="en-US" altLang="ko-KR" sz="5400" dirty="0" smtClean="0"/>
              <a:t>, VGG16, </a:t>
            </a:r>
            <a:r>
              <a:rPr lang="en-US" altLang="ko-KR" sz="5400" dirty="0" err="1" smtClean="0"/>
              <a:t>ResNet</a:t>
            </a:r>
            <a:r>
              <a:rPr lang="en-US" altLang="ko-KR" sz="5400" dirty="0" smtClean="0"/>
              <a:t>, Mask-RCNN)</a:t>
            </a:r>
          </a:p>
          <a:p>
            <a:pPr lvl="1">
              <a:buFont typeface="Wingdings" pitchFamily="2" charset="2"/>
              <a:buChar char="Ø"/>
            </a:pPr>
            <a:r>
              <a:rPr lang="ko-KR" altLang="en-US" sz="5400" dirty="0" smtClean="0"/>
              <a:t>의료 영상 진단관련 논문 </a:t>
            </a:r>
            <a:r>
              <a:rPr lang="en-US" altLang="ko-KR" sz="5400" dirty="0" smtClean="0"/>
              <a:t>study </a:t>
            </a:r>
            <a:r>
              <a:rPr lang="ko-KR" altLang="en-US" sz="5400" dirty="0" smtClean="0"/>
              <a:t>및 관련 </a:t>
            </a:r>
            <a:r>
              <a:rPr lang="en-US" altLang="ko-KR" sz="5400" dirty="0" smtClean="0"/>
              <a:t>Demo </a:t>
            </a:r>
            <a:r>
              <a:rPr lang="ko-KR" altLang="en-US" sz="5400" dirty="0" smtClean="0"/>
              <a:t>실행</a:t>
            </a:r>
            <a:endParaRPr lang="en-US" sz="5400" dirty="0" smtClean="0"/>
          </a:p>
          <a:p>
            <a:pPr lvl="0">
              <a:buFont typeface="Wingdings" pitchFamily="2" charset="2"/>
              <a:buChar char="Ø"/>
            </a:pPr>
            <a:r>
              <a:rPr lang="en-US" sz="5600" dirty="0" smtClean="0"/>
              <a:t>MEAN Stack </a:t>
            </a:r>
            <a:r>
              <a:rPr lang="en-US" sz="5600" dirty="0"/>
              <a:t>( </a:t>
            </a:r>
            <a:r>
              <a:rPr lang="en-US" sz="5600" dirty="0" err="1" smtClean="0"/>
              <a:t>MongoDB</a:t>
            </a:r>
            <a:r>
              <a:rPr lang="en-US" sz="5600" dirty="0" smtClean="0"/>
              <a:t>, Express</a:t>
            </a:r>
            <a:r>
              <a:rPr lang="en-US" sz="5600" dirty="0"/>
              <a:t>, </a:t>
            </a:r>
            <a:r>
              <a:rPr lang="en-US" sz="5600" dirty="0" err="1" smtClean="0"/>
              <a:t>AngularJS</a:t>
            </a:r>
            <a:r>
              <a:rPr lang="en-US" sz="5600" dirty="0" smtClean="0"/>
              <a:t>, Node.js </a:t>
            </a:r>
            <a:r>
              <a:rPr lang="en-US" sz="5600" dirty="0"/>
              <a:t>, </a:t>
            </a:r>
            <a:r>
              <a:rPr lang="en-US" sz="5600" dirty="0" err="1" smtClean="0"/>
              <a:t>Redis</a:t>
            </a:r>
            <a:r>
              <a:rPr lang="en-US" sz="5600" dirty="0" smtClean="0"/>
              <a:t> </a:t>
            </a:r>
            <a:r>
              <a:rPr lang="en-US" sz="5600" dirty="0"/>
              <a:t>S</a:t>
            </a:r>
            <a:r>
              <a:rPr lang="en-US" sz="5600" dirty="0" smtClean="0"/>
              <a:t>erver </a:t>
            </a:r>
            <a:r>
              <a:rPr lang="en-US" sz="5600" dirty="0"/>
              <a:t>) </a:t>
            </a:r>
            <a:r>
              <a:rPr lang="ko-KR" altLang="en-US" sz="5600" dirty="0" smtClean="0"/>
              <a:t>어플리케이션 </a:t>
            </a:r>
            <a:r>
              <a:rPr lang="ko-KR" altLang="en-US" sz="5600" dirty="0"/>
              <a:t>개발 </a:t>
            </a:r>
          </a:p>
          <a:p>
            <a:pPr lvl="0">
              <a:buFont typeface="Wingdings" pitchFamily="2" charset="2"/>
              <a:buChar char="Ø"/>
            </a:pPr>
            <a:r>
              <a:rPr lang="en-US" sz="5600" dirty="0" err="1"/>
              <a:t>Angularjs</a:t>
            </a:r>
            <a:r>
              <a:rPr lang="en-US" sz="5600" dirty="0"/>
              <a:t>/React.js </a:t>
            </a:r>
            <a:r>
              <a:rPr lang="ko-KR" altLang="en-US" sz="5600" dirty="0"/>
              <a:t>기술을 응용한</a:t>
            </a:r>
            <a:r>
              <a:rPr lang="en-US" sz="5600" dirty="0"/>
              <a:t> </a:t>
            </a:r>
            <a:r>
              <a:rPr lang="en-US" sz="5600" dirty="0" smtClean="0"/>
              <a:t> </a:t>
            </a:r>
            <a:r>
              <a:rPr lang="ko-KR" altLang="en-US" sz="5600" dirty="0" smtClean="0"/>
              <a:t>웹 어플리케이션 개발</a:t>
            </a:r>
            <a:endParaRPr lang="en-US" altLang="ko-KR" sz="5600" dirty="0" smtClean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다양한 자바스크립트 라이브러리 기술 보유 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ko-KR" sz="4400" dirty="0" smtClean="0"/>
              <a:t>D3.js (Chart), Semantic UI , </a:t>
            </a:r>
            <a:r>
              <a:rPr lang="en-US" altLang="ko-KR" sz="4400" dirty="0" err="1" smtClean="0"/>
              <a:t>Konva</a:t>
            </a:r>
            <a:r>
              <a:rPr lang="en-US" altLang="ko-KR" sz="4400" dirty="0" smtClean="0"/>
              <a:t>(Canvas) , Socket.IO(</a:t>
            </a:r>
            <a:r>
              <a:rPr lang="en-US" altLang="ko-KR" sz="4400" dirty="0" err="1" smtClean="0"/>
              <a:t>Realtime</a:t>
            </a:r>
            <a:r>
              <a:rPr lang="en-US" altLang="ko-KR" sz="4400" dirty="0" smtClean="0"/>
              <a:t>) , </a:t>
            </a:r>
            <a:r>
              <a:rPr lang="en-US" altLang="ko-KR" sz="4400" dirty="0" err="1" smtClean="0"/>
              <a:t>Lodash</a:t>
            </a:r>
            <a:r>
              <a:rPr lang="en-US" altLang="ko-KR" sz="4400" dirty="0" smtClean="0"/>
              <a:t>(Function) </a:t>
            </a:r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시스템 연동 기술 보유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4400" dirty="0" smtClean="0"/>
              <a:t> </a:t>
            </a:r>
            <a:r>
              <a:rPr lang="en-US" altLang="ko-KR" sz="4400" dirty="0" err="1" smtClean="0"/>
              <a:t>gRPC</a:t>
            </a:r>
            <a:r>
              <a:rPr lang="en-US" altLang="ko-KR" sz="4400" dirty="0" smtClean="0"/>
              <a:t>(</a:t>
            </a:r>
            <a:r>
              <a:rPr lang="ko-KR" altLang="en-US" sz="4400" dirty="0" smtClean="0"/>
              <a:t>원격 프로세스간</a:t>
            </a:r>
            <a:r>
              <a:rPr lang="en-US" altLang="ko-KR" sz="4400" dirty="0" smtClean="0"/>
              <a:t>), IPC 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sz="4400" dirty="0" err="1" smtClean="0"/>
              <a:t>Redis</a:t>
            </a:r>
            <a:r>
              <a:rPr lang="en-US" altLang="ko-KR" sz="4400" dirty="0" smtClean="0"/>
              <a:t> (MSB)</a:t>
            </a:r>
          </a:p>
          <a:p>
            <a:pPr>
              <a:buFont typeface="Wingdings" pitchFamily="2" charset="2"/>
              <a:buChar char="Ø"/>
            </a:pPr>
            <a:r>
              <a:rPr lang="en-US" altLang="ko-KR" sz="5600" dirty="0" smtClean="0"/>
              <a:t>DB </a:t>
            </a:r>
            <a:r>
              <a:rPr lang="ko-KR" altLang="en-US" sz="5600" dirty="0" smtClean="0"/>
              <a:t>연동 기술 보유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ko-KR" sz="4400" dirty="0" smtClean="0"/>
              <a:t>Oracle DB, MS SQL , </a:t>
            </a:r>
            <a:r>
              <a:rPr lang="en-US" altLang="ko-KR" sz="4400" dirty="0" err="1" smtClean="0"/>
              <a:t>SQlite</a:t>
            </a:r>
            <a:r>
              <a:rPr lang="en-US" altLang="ko-KR" sz="4400" dirty="0" smtClean="0"/>
              <a:t> Query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sz="4400" dirty="0" err="1" smtClean="0"/>
              <a:t>MongoDB</a:t>
            </a:r>
            <a:r>
              <a:rPr lang="en-US" altLang="ko-KR" sz="4400" dirty="0" smtClean="0"/>
              <a:t> Query </a:t>
            </a:r>
          </a:p>
          <a:p>
            <a:pPr>
              <a:buFont typeface="Wingdings" pitchFamily="2" charset="2"/>
              <a:buChar char="Ø"/>
            </a:pPr>
            <a:r>
              <a:rPr lang="ko-KR" altLang="en-US" sz="5600" dirty="0" err="1" smtClean="0"/>
              <a:t>웹서버</a:t>
            </a:r>
            <a:r>
              <a:rPr lang="ko-KR" altLang="en-US" sz="5600" dirty="0" smtClean="0"/>
              <a:t>  기술  보유 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en-US" altLang="ko-KR" sz="4400" dirty="0" smtClean="0"/>
              <a:t>Fast API, Node.js </a:t>
            </a:r>
            <a:r>
              <a:rPr lang="en-US" altLang="ko-KR" sz="4400" dirty="0" smtClean="0"/>
              <a:t>, </a:t>
            </a:r>
            <a:r>
              <a:rPr lang="en-US" altLang="ko-KR" sz="4400" dirty="0" err="1" smtClean="0"/>
              <a:t>RESTful</a:t>
            </a:r>
            <a:endParaRPr lang="ko-KR" altLang="en-US" sz="4400" dirty="0"/>
          </a:p>
          <a:p>
            <a:pPr lvl="0">
              <a:buFont typeface="Wingdings" pitchFamily="2" charset="2"/>
              <a:buChar char="Ø"/>
            </a:pPr>
            <a:r>
              <a:rPr lang="ko-KR" altLang="en-US" sz="5600" dirty="0" smtClean="0"/>
              <a:t>어플리케이션</a:t>
            </a:r>
            <a:r>
              <a:rPr lang="en-US" sz="5600" dirty="0" smtClean="0"/>
              <a:t> </a:t>
            </a:r>
            <a:r>
              <a:rPr lang="en-US" sz="5600" dirty="0"/>
              <a:t>S/W, </a:t>
            </a:r>
            <a:r>
              <a:rPr lang="ko-KR" altLang="en-US" sz="5600" dirty="0" err="1" smtClean="0"/>
              <a:t>셋탑박스</a:t>
            </a:r>
            <a:r>
              <a:rPr lang="ko-KR" altLang="en-US" sz="5600" dirty="0" smtClean="0"/>
              <a:t> </a:t>
            </a:r>
            <a:r>
              <a:rPr lang="ko-KR" altLang="en-US" sz="5600" dirty="0" err="1" smtClean="0"/>
              <a:t>미들웨어</a:t>
            </a:r>
            <a:r>
              <a:rPr lang="ko-KR" altLang="en-US" sz="5600" dirty="0" smtClean="0"/>
              <a:t> 개발 </a:t>
            </a:r>
            <a:r>
              <a:rPr lang="en-US" sz="5600" dirty="0" smtClean="0"/>
              <a:t>, </a:t>
            </a:r>
            <a:r>
              <a:rPr lang="ko-KR" altLang="en-US" sz="5600" dirty="0" smtClean="0"/>
              <a:t>프로젝트관리까지 </a:t>
            </a:r>
            <a:r>
              <a:rPr lang="ko-KR" altLang="en-US" sz="5600" dirty="0"/>
              <a:t>다양한 경험</a:t>
            </a:r>
          </a:p>
          <a:p>
            <a:pPr lvl="0">
              <a:buFont typeface="Wingdings" pitchFamily="2" charset="2"/>
              <a:buChar char="Ø"/>
            </a:pPr>
            <a:r>
              <a:rPr lang="en-US" altLang="ko-KR" sz="5600" dirty="0" smtClean="0"/>
              <a:t>IPTV S/W </a:t>
            </a:r>
            <a:r>
              <a:rPr lang="ko-KR" altLang="en-US" sz="5600" dirty="0" smtClean="0"/>
              <a:t>개발</a:t>
            </a:r>
            <a:endParaRPr lang="en-US" altLang="ko-KR" sz="5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4400" dirty="0" err="1" smtClean="0"/>
              <a:t>리눅스</a:t>
            </a:r>
            <a:r>
              <a:rPr lang="ko-KR" altLang="en-US" sz="4400" dirty="0" smtClean="0"/>
              <a:t> </a:t>
            </a:r>
            <a:r>
              <a:rPr lang="ko-KR" altLang="en-US" sz="4400" dirty="0"/>
              <a:t>기반</a:t>
            </a:r>
            <a:r>
              <a:rPr lang="en-US" sz="4400" dirty="0"/>
              <a:t> Application S/W </a:t>
            </a:r>
            <a:r>
              <a:rPr lang="ko-KR" altLang="en-US" sz="4400" dirty="0" smtClean="0"/>
              <a:t>개발</a:t>
            </a:r>
            <a:endParaRPr lang="en-US" altLang="ko-KR" sz="4400" dirty="0" smtClean="0"/>
          </a:p>
          <a:p>
            <a:pPr lvl="1">
              <a:buFont typeface="Wingdings" pitchFamily="2" charset="2"/>
              <a:buChar char="Ø"/>
            </a:pPr>
            <a:r>
              <a:rPr lang="en-US" sz="4400" dirty="0" smtClean="0"/>
              <a:t>KT </a:t>
            </a:r>
            <a:r>
              <a:rPr lang="en-US" sz="4400" dirty="0"/>
              <a:t>IPTV </a:t>
            </a:r>
            <a:r>
              <a:rPr lang="ko-KR" altLang="en-US" sz="4400" dirty="0" err="1" smtClean="0"/>
              <a:t>스펙</a:t>
            </a:r>
            <a:r>
              <a:rPr lang="ko-KR" altLang="en-US" sz="4400" dirty="0" smtClean="0"/>
              <a:t> 기반 </a:t>
            </a:r>
            <a:r>
              <a:rPr lang="ko-KR" altLang="en-US" sz="4400" dirty="0"/>
              <a:t>시스템 </a:t>
            </a:r>
            <a:r>
              <a:rPr lang="ko-KR" altLang="en-US" sz="4400" dirty="0" smtClean="0"/>
              <a:t>설계</a:t>
            </a:r>
            <a:endParaRPr lang="en-US" altLang="ko-KR" sz="4400" dirty="0" smtClean="0"/>
          </a:p>
          <a:p>
            <a:pPr lvl="1">
              <a:buFont typeface="Wingdings" pitchFamily="2" charset="2"/>
              <a:buChar char="Ø"/>
            </a:pPr>
            <a:r>
              <a:rPr lang="en-US" sz="4400" dirty="0" smtClean="0"/>
              <a:t>EPG </a:t>
            </a:r>
            <a:r>
              <a:rPr lang="ko-KR" altLang="en-US" sz="4400" dirty="0"/>
              <a:t>다운로드 및 관리 </a:t>
            </a:r>
            <a:r>
              <a:rPr lang="ko-KR" altLang="en-US" sz="4400" dirty="0" smtClean="0"/>
              <a:t>기능</a:t>
            </a:r>
            <a:endParaRPr lang="en-US" sz="4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4400" dirty="0" smtClean="0"/>
              <a:t>광고 </a:t>
            </a:r>
            <a:r>
              <a:rPr lang="ko-KR" altLang="en-US" sz="4400" dirty="0" err="1"/>
              <a:t>컨텐츠</a:t>
            </a:r>
            <a:r>
              <a:rPr lang="ko-KR" altLang="en-US" sz="4400" dirty="0"/>
              <a:t> 다운로드</a:t>
            </a:r>
            <a:r>
              <a:rPr lang="en-US" sz="4400" dirty="0"/>
              <a:t>, </a:t>
            </a:r>
            <a:r>
              <a:rPr lang="ko-KR" altLang="en-US" sz="4400" dirty="0"/>
              <a:t>광고</a:t>
            </a:r>
            <a:r>
              <a:rPr lang="en-US" sz="4400" dirty="0"/>
              <a:t> DB SQL Query </a:t>
            </a:r>
            <a:r>
              <a:rPr lang="ko-KR" altLang="en-US" sz="4400" dirty="0"/>
              <a:t>작성</a:t>
            </a:r>
            <a:r>
              <a:rPr lang="en-US" sz="4400" dirty="0"/>
              <a:t> </a:t>
            </a:r>
            <a:endParaRPr lang="en-US" sz="4400" dirty="0" smtClean="0"/>
          </a:p>
          <a:p>
            <a:pPr lvl="1">
              <a:buFont typeface="Wingdings" pitchFamily="2" charset="2"/>
              <a:buChar char="Ø"/>
            </a:pPr>
            <a:r>
              <a:rPr lang="en-US" sz="4400" dirty="0" smtClean="0"/>
              <a:t> </a:t>
            </a:r>
            <a:r>
              <a:rPr lang="en-US" sz="4400" dirty="0"/>
              <a:t>VOD </a:t>
            </a:r>
            <a:r>
              <a:rPr lang="ko-KR" altLang="en-US" sz="4400" dirty="0"/>
              <a:t>다운로드 및 </a:t>
            </a:r>
            <a:r>
              <a:rPr lang="ko-KR" altLang="en-US" sz="4400" dirty="0" err="1"/>
              <a:t>컨텐츠</a:t>
            </a:r>
            <a:r>
              <a:rPr lang="ko-KR" altLang="en-US" sz="4400" dirty="0"/>
              <a:t> 예약 </a:t>
            </a:r>
            <a:r>
              <a:rPr lang="ko-KR" altLang="en-US" sz="4400" dirty="0" smtClean="0"/>
              <a:t>다운로드</a:t>
            </a:r>
            <a:endParaRPr lang="en-US" sz="4400" dirty="0" smtClean="0"/>
          </a:p>
          <a:p>
            <a:pPr lvl="1">
              <a:buFont typeface="Wingdings" pitchFamily="2" charset="2"/>
              <a:buChar char="Ø"/>
            </a:pPr>
            <a:r>
              <a:rPr lang="en-US" sz="4400" dirty="0" smtClean="0"/>
              <a:t> </a:t>
            </a:r>
            <a:r>
              <a:rPr lang="en-US" sz="4400" dirty="0"/>
              <a:t>S/W </a:t>
            </a:r>
            <a:r>
              <a:rPr lang="ko-KR" altLang="en-US" sz="4400" dirty="0"/>
              <a:t>업그레이드</a:t>
            </a:r>
            <a:r>
              <a:rPr lang="en-US" sz="4400" dirty="0"/>
              <a:t> </a:t>
            </a:r>
            <a:r>
              <a:rPr lang="en-US" sz="4400" dirty="0" smtClean="0"/>
              <a:t>, </a:t>
            </a:r>
            <a:r>
              <a:rPr lang="ko-KR" altLang="en-US" sz="4400" dirty="0" smtClean="0"/>
              <a:t>가입자 </a:t>
            </a:r>
            <a:r>
              <a:rPr lang="ko-KR" altLang="en-US" sz="4400" dirty="0"/>
              <a:t>인증</a:t>
            </a:r>
            <a:r>
              <a:rPr lang="en-US" sz="4400" dirty="0"/>
              <a:t>, </a:t>
            </a:r>
            <a:r>
              <a:rPr lang="ko-KR" altLang="en-US" sz="4400" dirty="0"/>
              <a:t>장애처리를 위한</a:t>
            </a:r>
            <a:r>
              <a:rPr lang="en-US" sz="4400" dirty="0"/>
              <a:t> SNMP  </a:t>
            </a:r>
            <a:r>
              <a:rPr lang="ko-KR" altLang="en-US" sz="4400" dirty="0"/>
              <a:t>연동 서비스 개발 </a:t>
            </a:r>
            <a:endParaRPr lang="en-US" altLang="ko-KR" sz="4400" dirty="0" smtClean="0"/>
          </a:p>
          <a:p>
            <a:pPr lvl="1">
              <a:buFont typeface="Wingdings" pitchFamily="2" charset="2"/>
              <a:buChar char="Ø"/>
            </a:pPr>
            <a:r>
              <a:rPr lang="en-US" sz="4400" dirty="0" smtClean="0"/>
              <a:t> IPC </a:t>
            </a:r>
            <a:r>
              <a:rPr lang="ko-KR" altLang="en-US" sz="4400" dirty="0"/>
              <a:t>통신</a:t>
            </a:r>
            <a:r>
              <a:rPr lang="en-US" sz="4400" dirty="0"/>
              <a:t>, </a:t>
            </a:r>
            <a:r>
              <a:rPr lang="ko-KR" altLang="en-US" sz="4400" dirty="0" err="1"/>
              <a:t>네트웤</a:t>
            </a:r>
            <a:r>
              <a:rPr lang="ko-KR" altLang="en-US" sz="4400" dirty="0"/>
              <a:t> 통신</a:t>
            </a:r>
            <a:r>
              <a:rPr lang="en-US" sz="4400" dirty="0"/>
              <a:t>,  </a:t>
            </a:r>
            <a:r>
              <a:rPr lang="ko-KR" altLang="en-US" sz="4400" dirty="0" err="1"/>
              <a:t>멀티쓰레딩</a:t>
            </a:r>
            <a:r>
              <a:rPr lang="ko-KR" altLang="en-US" sz="4400" dirty="0"/>
              <a:t> 관련 기술을 적용 </a:t>
            </a:r>
          </a:p>
          <a:p>
            <a:pPr>
              <a:buFont typeface="Wingdings" pitchFamily="2" charset="2"/>
              <a:buChar char="u"/>
            </a:pP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t" anchorCtr="0">
            <a:normAutofit fontScale="90000"/>
          </a:bodyPr>
          <a:lstStyle/>
          <a:p>
            <a:r>
              <a:rPr lang="ko-KR" altLang="en-US" dirty="0" smtClean="0"/>
              <a:t>업무상 주요 강점 및 핵심역량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740920"/>
            <a:ext cx="8229600" cy="477966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altLang="ko-KR" sz="1600" dirty="0" smtClean="0"/>
              <a:t>Stringer </a:t>
            </a:r>
            <a:r>
              <a:rPr lang="ko-KR" altLang="en-US" sz="1600" dirty="0" err="1" smtClean="0"/>
              <a:t>망관리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시스템</a:t>
            </a:r>
            <a:r>
              <a:rPr lang="en-US" sz="1600" dirty="0"/>
              <a:t> S/W </a:t>
            </a:r>
            <a:r>
              <a:rPr lang="ko-KR" altLang="en-US" sz="1600" dirty="0" smtClean="0"/>
              <a:t>개발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유닉스 기반 </a:t>
            </a:r>
            <a:r>
              <a:rPr lang="en-US" sz="1400" dirty="0" smtClean="0"/>
              <a:t>GUI </a:t>
            </a:r>
            <a:r>
              <a:rPr lang="ko-KR" altLang="en-US" sz="1400" dirty="0"/>
              <a:t>개발</a:t>
            </a:r>
            <a:r>
              <a:rPr lang="en-US" sz="1400" dirty="0" smtClean="0"/>
              <a:t>, SNMP </a:t>
            </a:r>
            <a:r>
              <a:rPr lang="ko-KR" altLang="en-US" sz="1400" dirty="0"/>
              <a:t>응용</a:t>
            </a:r>
            <a:r>
              <a:rPr lang="en-US" sz="1400" dirty="0"/>
              <a:t>, Oracle DB SQL Query </a:t>
            </a:r>
            <a:r>
              <a:rPr lang="ko-KR" altLang="en-US" sz="1400" dirty="0"/>
              <a:t>작성 </a:t>
            </a:r>
          </a:p>
          <a:p>
            <a:pPr lvl="0">
              <a:buFont typeface="Wingdings" pitchFamily="2" charset="2"/>
              <a:buChar char="Ø"/>
            </a:pPr>
            <a:r>
              <a:rPr lang="ko-KR" altLang="en-US" sz="1600" dirty="0"/>
              <a:t>휴대폰</a:t>
            </a:r>
            <a:r>
              <a:rPr lang="en-US" sz="1600" dirty="0"/>
              <a:t> S/W </a:t>
            </a:r>
            <a:r>
              <a:rPr lang="ko-KR" altLang="en-US" sz="1600" dirty="0" smtClean="0"/>
              <a:t> 개발 </a:t>
            </a:r>
            <a:endParaRPr lang="en-US" altLang="ko-KR" sz="16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err="1" smtClean="0"/>
              <a:t>메시징서비스</a:t>
            </a:r>
            <a:r>
              <a:rPr lang="en-US" sz="1400" dirty="0"/>
              <a:t>(SMS,MMS,CBS</a:t>
            </a:r>
            <a:r>
              <a:rPr lang="en-US" sz="1400" dirty="0" smtClean="0"/>
              <a:t>) , </a:t>
            </a:r>
            <a:r>
              <a:rPr lang="ko-KR" altLang="en-US" sz="1400" dirty="0" smtClean="0"/>
              <a:t>정보서비스</a:t>
            </a:r>
            <a:r>
              <a:rPr lang="en-US" sz="1400" dirty="0" smtClean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1400" dirty="0" smtClean="0"/>
              <a:t>SK-</a:t>
            </a:r>
            <a:r>
              <a:rPr lang="en-US" sz="1400" dirty="0" err="1" smtClean="0"/>
              <a:t>VM,Wavelet,WAP,WIPI</a:t>
            </a:r>
            <a:r>
              <a:rPr lang="en-US" sz="1400" dirty="0" smtClean="0"/>
              <a:t> </a:t>
            </a:r>
            <a:r>
              <a:rPr lang="ko-KR" altLang="en-US" sz="1400" dirty="0" smtClean="0"/>
              <a:t>부가서비스</a:t>
            </a:r>
            <a:endParaRPr lang="en-US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통신사</a:t>
            </a:r>
            <a:r>
              <a:rPr lang="en-US" altLang="ko-KR" sz="1400" dirty="0" smtClean="0"/>
              <a:t>(SKT,LGT)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스펙분석</a:t>
            </a:r>
            <a:r>
              <a:rPr lang="ko-KR" altLang="en-US" sz="1050" dirty="0" smtClean="0"/>
              <a:t> </a:t>
            </a:r>
            <a:r>
              <a:rPr lang="ko-KR" altLang="en-US" sz="1400" dirty="0"/>
              <a:t>및</a:t>
            </a:r>
            <a:r>
              <a:rPr lang="en-US" sz="2000" dirty="0"/>
              <a:t> </a:t>
            </a:r>
            <a:r>
              <a:rPr lang="ko-KR" altLang="en-US" sz="1400" dirty="0" smtClean="0"/>
              <a:t>구현</a:t>
            </a:r>
            <a:r>
              <a:rPr lang="en-US" sz="1400" dirty="0"/>
              <a:t>,</a:t>
            </a:r>
            <a:r>
              <a:rPr lang="ko-KR" altLang="en-US" sz="1400" dirty="0" smtClean="0"/>
              <a:t>테스트 단계를 </a:t>
            </a:r>
            <a:r>
              <a:rPr lang="ko-KR" altLang="en-US" sz="1400" dirty="0"/>
              <a:t>걸쳐</a:t>
            </a:r>
            <a:r>
              <a:rPr lang="en-US" sz="1400" dirty="0"/>
              <a:t>  S/W </a:t>
            </a:r>
            <a:r>
              <a:rPr lang="ko-KR" altLang="en-US" sz="1400" dirty="0"/>
              <a:t>개발</a:t>
            </a:r>
          </a:p>
          <a:p>
            <a:pPr lvl="0">
              <a:buFont typeface="Wingdings" pitchFamily="2" charset="2"/>
              <a:buChar char="Ø"/>
            </a:pPr>
            <a:r>
              <a:rPr lang="ko-KR" altLang="en-US" sz="1600" dirty="0" smtClean="0"/>
              <a:t>무선 멀티미디어 전송기술이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융합된  </a:t>
            </a:r>
            <a:r>
              <a:rPr lang="ko-KR" altLang="en-US" sz="1600" dirty="0" err="1" smtClean="0"/>
              <a:t>컨버전스</a:t>
            </a:r>
            <a:r>
              <a:rPr lang="ko-KR" altLang="en-US" sz="1600" dirty="0" smtClean="0"/>
              <a:t> 제품 개발</a:t>
            </a:r>
            <a:r>
              <a:rPr lang="en-US" sz="1600" dirty="0" smtClean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1400" dirty="0" smtClean="0"/>
              <a:t>Wireless </a:t>
            </a:r>
            <a:r>
              <a:rPr lang="en-US" sz="1400" dirty="0"/>
              <a:t>Display </a:t>
            </a:r>
            <a:r>
              <a:rPr lang="ko-KR" altLang="en-US" sz="1400" dirty="0"/>
              <a:t>기술을 기반으로 유무선 공유기 </a:t>
            </a:r>
            <a:r>
              <a:rPr lang="ko-KR" altLang="en-US" sz="1400" dirty="0" smtClean="0"/>
              <a:t>기술 적용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공유기를 </a:t>
            </a:r>
            <a:r>
              <a:rPr lang="ko-KR" altLang="en-US" sz="1400" dirty="0"/>
              <a:t>관리하기 위한</a:t>
            </a:r>
            <a:r>
              <a:rPr lang="en-US" sz="1400" dirty="0"/>
              <a:t>  </a:t>
            </a:r>
            <a:r>
              <a:rPr lang="ko-KR" altLang="en-US" sz="1400" dirty="0" err="1" smtClean="0"/>
              <a:t>통합관리툴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Ø"/>
            </a:pPr>
            <a:r>
              <a:rPr lang="ko-KR" altLang="en-US" sz="1400" dirty="0" smtClean="0"/>
              <a:t>응용프로그램 및 드라이버 설치를 </a:t>
            </a:r>
            <a:r>
              <a:rPr lang="ko-KR" altLang="en-US" sz="1400" dirty="0"/>
              <a:t>위한 윈도우기반 설치 </a:t>
            </a:r>
            <a:r>
              <a:rPr lang="ko-KR" altLang="en-US" sz="1400" dirty="0" smtClean="0"/>
              <a:t>프로그램</a:t>
            </a:r>
            <a:endParaRPr lang="ko-KR" altLang="en-US" sz="1400" dirty="0"/>
          </a:p>
          <a:p>
            <a:pPr lvl="0">
              <a:buFont typeface="Wingdings" pitchFamily="2" charset="2"/>
              <a:buChar char="Ø"/>
            </a:pPr>
            <a:r>
              <a:rPr lang="en-US" sz="1600" dirty="0" smtClean="0"/>
              <a:t>TI </a:t>
            </a:r>
            <a:r>
              <a:rPr lang="en-US" sz="1600" dirty="0"/>
              <a:t>IP </a:t>
            </a:r>
            <a:r>
              <a:rPr lang="ko-KR" altLang="en-US" sz="1600" dirty="0"/>
              <a:t>카메라 플랫폼상에 지능형 </a:t>
            </a:r>
            <a:r>
              <a:rPr lang="ko-KR" altLang="en-US" sz="1600" dirty="0" smtClean="0"/>
              <a:t>영상 분석엔진 </a:t>
            </a:r>
            <a:r>
              <a:rPr lang="ko-KR" altLang="en-US" sz="1600" dirty="0"/>
              <a:t>통합</a:t>
            </a:r>
          </a:p>
          <a:p>
            <a:pPr lvl="0">
              <a:buFont typeface="Wingdings" pitchFamily="2" charset="2"/>
              <a:buChar char="Ø"/>
            </a:pPr>
            <a:r>
              <a:rPr lang="ko-KR" altLang="en-US" sz="1600" dirty="0" smtClean="0"/>
              <a:t>다양한 플랫폼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Odroid</a:t>
            </a:r>
            <a:r>
              <a:rPr lang="en-US" altLang="ko-KR" sz="1600" dirty="0" smtClean="0"/>
              <a:t>, Raspberry Pi,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Artik7,Hi3536)</a:t>
            </a:r>
            <a:r>
              <a:rPr lang="ko-KR" altLang="en-US" sz="1600" dirty="0" smtClean="0"/>
              <a:t>에 지능형 </a:t>
            </a:r>
            <a:r>
              <a:rPr lang="ko-KR" altLang="en-US" sz="1600" dirty="0"/>
              <a:t>영상분석 엔진 통합 </a:t>
            </a:r>
            <a:endParaRPr lang="en-US" altLang="ko-KR" sz="1600" dirty="0" smtClean="0"/>
          </a:p>
          <a:p>
            <a:pPr>
              <a:buFont typeface="Wingdings" pitchFamily="2" charset="2"/>
              <a:buChar char="Ø"/>
            </a:pPr>
            <a:r>
              <a:rPr lang="ko-KR" altLang="en-US" sz="1600" dirty="0" smtClean="0"/>
              <a:t>프로젝트관리에 대한 전문적 지식</a:t>
            </a:r>
            <a:r>
              <a:rPr lang="en-US" altLang="ko-KR" sz="1600" dirty="0" smtClean="0"/>
              <a:t>(PMP 2011)</a:t>
            </a:r>
            <a:r>
              <a:rPr lang="ko-KR" altLang="en-US" sz="1600" dirty="0" smtClean="0"/>
              <a:t>  </a:t>
            </a:r>
            <a:r>
              <a:rPr lang="ko-KR" altLang="en-US" sz="1600" dirty="0" err="1" smtClean="0"/>
              <a:t>보유및</a:t>
            </a:r>
            <a:r>
              <a:rPr lang="ko-KR" altLang="en-US" sz="1600" dirty="0" smtClean="0"/>
              <a:t> 외국계회사와</a:t>
            </a:r>
            <a:r>
              <a:rPr lang="en-US" sz="1600" dirty="0" smtClean="0"/>
              <a:t> Co-Work</a:t>
            </a:r>
            <a:r>
              <a:rPr lang="ko-KR" altLang="en-US" sz="1600" dirty="0" smtClean="0"/>
              <a:t>을 위한 의사소통 능력</a:t>
            </a:r>
            <a:endParaRPr lang="en-US" altLang="ko-KR" sz="1600" dirty="0" smtClean="0"/>
          </a:p>
          <a:p>
            <a:pPr>
              <a:buFont typeface="Wingdings" pitchFamily="2" charset="2"/>
              <a:buChar char="Ø"/>
            </a:pPr>
            <a:r>
              <a:rPr lang="ko-KR" altLang="en-US" sz="1600" dirty="0" err="1" smtClean="0"/>
              <a:t>클라우드</a:t>
            </a:r>
            <a:r>
              <a:rPr lang="ko-KR" altLang="en-US" sz="1600" dirty="0" smtClean="0"/>
              <a:t> 컴퓨팅  </a:t>
            </a:r>
            <a:r>
              <a:rPr lang="en-US" altLang="ko-KR" sz="1600" dirty="0" smtClean="0"/>
              <a:t>&amp;&amp; </a:t>
            </a:r>
            <a:r>
              <a:rPr lang="ko-KR" altLang="en-US" sz="1600" dirty="0" smtClean="0"/>
              <a:t>머신 러닝과 </a:t>
            </a:r>
            <a:r>
              <a:rPr lang="ko-KR" altLang="en-US" sz="1600" dirty="0" err="1" smtClean="0"/>
              <a:t>딥러닝</a:t>
            </a:r>
            <a:r>
              <a:rPr lang="ko-KR" altLang="en-US" sz="1600" dirty="0" smtClean="0"/>
              <a:t> 기술 </a:t>
            </a:r>
            <a:r>
              <a:rPr lang="en-US" altLang="ko-KR" sz="1600" dirty="0" smtClean="0"/>
              <a:t>Study </a:t>
            </a:r>
          </a:p>
          <a:p>
            <a:pPr>
              <a:buNone/>
            </a:pPr>
            <a:endParaRPr lang="ko-KR" altLang="en-US" sz="1600" dirty="0" smtClean="0"/>
          </a:p>
          <a:p>
            <a:pPr lvl="0">
              <a:buFont typeface="Wingdings" pitchFamily="2" charset="2"/>
              <a:buChar char="Ø"/>
            </a:pP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오투오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풀스택</a:t>
                      </a:r>
                      <a:r>
                        <a:rPr lang="ko-KR" altLang="en-US" sz="1600" dirty="0" smtClean="0"/>
                        <a:t> 개발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광고 영상 제작 관련 마케팅 자동화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솔류션개발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en-US" altLang="ko-KR" sz="1400" dirty="0" smtClean="0"/>
                        <a:t> URL </a:t>
                      </a:r>
                      <a:r>
                        <a:rPr lang="ko-KR" altLang="en-US" sz="1400" dirty="0" smtClean="0"/>
                        <a:t>입력부터 광고 생성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유투브</a:t>
                      </a:r>
                      <a:r>
                        <a:rPr lang="ko-KR" altLang="en-US" sz="1400" dirty="0" smtClean="0"/>
                        <a:t> 업로드까지 </a:t>
                      </a:r>
                      <a:r>
                        <a:rPr lang="ko-KR" altLang="en-US" sz="1400" dirty="0" err="1" smtClean="0"/>
                        <a:t>원스탑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솔류션</a:t>
                      </a:r>
                      <a:r>
                        <a:rPr lang="ko-KR" altLang="en-US" sz="1400" dirty="0" smtClean="0"/>
                        <a:t> 개발</a:t>
                      </a:r>
                      <a:endParaRPr lang="en-US" altLang="ko-KR" sz="1400" dirty="0" smtClean="0"/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en-US" altLang="ko-KR" sz="1400" baseline="0" dirty="0" smtClean="0"/>
                        <a:t> Azure </a:t>
                      </a:r>
                      <a:r>
                        <a:rPr lang="en-US" altLang="ko-KR" sz="1400" baseline="0" dirty="0" err="1" smtClean="0"/>
                        <a:t>SaaS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기반 </a:t>
                      </a:r>
                      <a:r>
                        <a:rPr lang="ko-KR" altLang="en-US" sz="1400" baseline="0" dirty="0" err="1" smtClean="0"/>
                        <a:t>클라우드</a:t>
                      </a:r>
                      <a:r>
                        <a:rPr lang="ko-KR" altLang="en-US" sz="1400" baseline="0" dirty="0" smtClean="0"/>
                        <a:t> 서비스  </a:t>
                      </a:r>
                      <a:endParaRPr lang="en-US" altLang="ko-KR" sz="1400" baseline="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 smtClean="0"/>
                        <a:t>기술 </a:t>
                      </a:r>
                      <a:r>
                        <a:rPr lang="ko-KR" altLang="en-US" sz="1400" dirty="0" err="1" smtClean="0"/>
                        <a:t>스택</a:t>
                      </a:r>
                      <a:r>
                        <a:rPr lang="ko-KR" altLang="en-US" sz="1400" dirty="0" smtClean="0"/>
                        <a:t> 관련 </a:t>
                      </a:r>
                      <a:r>
                        <a:rPr lang="ko-KR" altLang="en-US" sz="1400" dirty="0" err="1" smtClean="0"/>
                        <a:t>백엔드는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err="1" smtClean="0"/>
                        <a:t>FastAPI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사용 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프론트엔드는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React.JS </a:t>
                      </a:r>
                      <a:r>
                        <a:rPr lang="ko-KR" altLang="en-US" sz="1400" dirty="0" smtClean="0"/>
                        <a:t>사용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en-US" altLang="ko-KR" sz="1400" dirty="0" err="1" smtClean="0"/>
                        <a:t>PostgreSQL</a:t>
                      </a:r>
                      <a:r>
                        <a:rPr lang="en-US" altLang="ko-KR" sz="1400" dirty="0" smtClean="0"/>
                        <a:t> DB </a:t>
                      </a:r>
                      <a:r>
                        <a:rPr lang="ko-KR" altLang="en-US" sz="1400" dirty="0" smtClean="0"/>
                        <a:t>연동 </a:t>
                      </a:r>
                      <a:r>
                        <a:rPr lang="en-US" altLang="ko-KR" sz="1400" dirty="0" smtClean="0"/>
                        <a:t> </a:t>
                      </a:r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smtClean="0"/>
                        <a:t>광고 가사 생성을 위한 </a:t>
                      </a:r>
                      <a:r>
                        <a:rPr lang="ko-KR" altLang="en-US" sz="1400" dirty="0" err="1" smtClean="0"/>
                        <a:t>크롤러</a:t>
                      </a:r>
                      <a:r>
                        <a:rPr lang="ko-KR" altLang="en-US" sz="1400" dirty="0" smtClean="0"/>
                        <a:t> 개발 및 </a:t>
                      </a:r>
                      <a:r>
                        <a:rPr lang="ko-KR" altLang="en-US" sz="1400" dirty="0" err="1" smtClean="0"/>
                        <a:t>챗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GPT </a:t>
                      </a:r>
                      <a:r>
                        <a:rPr lang="ko-KR" altLang="en-US" sz="1400" dirty="0" err="1" smtClean="0"/>
                        <a:t>프롬프팅</a:t>
                      </a:r>
                      <a:r>
                        <a:rPr lang="ko-KR" altLang="en-US" sz="1400" dirty="0" smtClean="0"/>
                        <a:t> </a:t>
                      </a:r>
                      <a:endParaRPr lang="en-US" altLang="ko-KR" sz="1400" dirty="0" smtClean="0"/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smtClean="0"/>
                        <a:t>광고용 배경음악 </a:t>
                      </a:r>
                      <a:r>
                        <a:rPr lang="ko-KR" altLang="en-US" sz="1400" dirty="0" err="1" smtClean="0"/>
                        <a:t>생성기</a:t>
                      </a:r>
                      <a:r>
                        <a:rPr lang="ko-KR" altLang="en-US" sz="1400" dirty="0" smtClean="0"/>
                        <a:t> 연동 </a:t>
                      </a:r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수집한 사진을 사용하여 광고 영상 생성 및 연동 개발 </a:t>
                      </a:r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smtClean="0"/>
                        <a:t>광고 영상 제작 관련 </a:t>
                      </a:r>
                      <a:r>
                        <a:rPr lang="ko-KR" altLang="en-US" sz="1400" dirty="0" err="1" smtClean="0"/>
                        <a:t>풀스택</a:t>
                      </a:r>
                      <a:r>
                        <a:rPr lang="ko-KR" altLang="en-US" sz="1400" dirty="0" smtClean="0"/>
                        <a:t> 개발 </a:t>
                      </a:r>
                      <a:r>
                        <a:rPr lang="en-US" altLang="ko-KR" sz="1400" dirty="0" smtClean="0"/>
                        <a:t>( </a:t>
                      </a:r>
                      <a:r>
                        <a:rPr lang="ko-KR" altLang="en-US" sz="1400" dirty="0" err="1" smtClean="0"/>
                        <a:t>프론트엔드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&amp; DB </a:t>
                      </a:r>
                      <a:r>
                        <a:rPr lang="ko-KR" altLang="en-US" sz="1400" dirty="0" smtClean="0"/>
                        <a:t>개발 </a:t>
                      </a:r>
                      <a:r>
                        <a:rPr lang="en-US" altLang="ko-KR" sz="1400" dirty="0" smtClean="0"/>
                        <a:t>)</a:t>
                      </a:r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smtClean="0"/>
                        <a:t>영상 제작 서비스 연동 </a:t>
                      </a:r>
                      <a:endParaRPr lang="en-US" altLang="ko-KR" sz="1400" dirty="0" smtClean="0"/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smtClean="0"/>
                        <a:t>광고 </a:t>
                      </a:r>
                      <a:r>
                        <a:rPr lang="ko-KR" altLang="en-US" sz="1400" dirty="0" err="1" smtClean="0"/>
                        <a:t>배경음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생성및</a:t>
                      </a:r>
                      <a:r>
                        <a:rPr lang="ko-KR" altLang="en-US" sz="1400" dirty="0" smtClean="0"/>
                        <a:t> 다운로드 </a:t>
                      </a:r>
                      <a:endParaRPr lang="en-US" altLang="ko-KR" sz="1400" dirty="0" smtClean="0"/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r>
                        <a:rPr lang="en-US" altLang="ko-KR" sz="1400" dirty="0" err="1" smtClean="0"/>
                        <a:t>ChatGPT</a:t>
                      </a:r>
                      <a:r>
                        <a:rPr lang="ko-KR" altLang="en-US" sz="1400" dirty="0" smtClean="0"/>
                        <a:t>와 연동하여 가사 생성 </a:t>
                      </a:r>
                      <a:endParaRPr lang="en-US" altLang="ko-KR" sz="1400" dirty="0" smtClean="0"/>
                    </a:p>
                    <a:p>
                      <a:pPr latinLnBrk="1">
                        <a:buFontTx/>
                        <a:buChar char="-"/>
                      </a:pPr>
                      <a:endParaRPr lang="ko-KR" altLang="en-US" sz="14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 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마케팅</a:t>
            </a:r>
            <a:r>
              <a:rPr lang="ko-KR" altLang="en-US" dirty="0" smtClean="0"/>
              <a:t>광고영상 제작 </a:t>
            </a:r>
            <a:r>
              <a:rPr lang="ko-KR" altLang="en-US" dirty="0" err="1" smtClean="0"/>
              <a:t>솔류</a:t>
            </a:r>
            <a:r>
              <a:rPr lang="ko-KR" altLang="en-US" dirty="0" err="1" smtClean="0"/>
              <a:t>션</a:t>
            </a:r>
            <a:r>
              <a:rPr lang="ko-KR" altLang="en-US" dirty="0" smtClean="0"/>
              <a:t> </a:t>
            </a:r>
            <a:endParaRPr lang="ko-KR" altLang="en-US" sz="5300" dirty="0">
              <a:latin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0034" y="2468275"/>
            <a:ext cx="1285884" cy="923330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</a:t>
            </a:r>
            <a:r>
              <a:rPr lang="ko-KR" altLang="en-US" dirty="0" err="1" smtClean="0"/>
              <a:t>팬션</a:t>
            </a:r>
            <a:endParaRPr lang="en-US" altLang="ko-KR" dirty="0" smtClean="0"/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음식점</a:t>
            </a:r>
            <a:endParaRPr lang="en-US" altLang="ko-KR" dirty="0" smtClean="0"/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학원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8596" y="2039647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소상공</a:t>
            </a:r>
            <a:r>
              <a:rPr lang="ko-KR" altLang="en-US" dirty="0" smtClean="0"/>
              <a:t> 상인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57488" y="2468275"/>
            <a:ext cx="2286016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-Azure </a:t>
            </a:r>
            <a:r>
              <a:rPr lang="en-US" altLang="ko-KR" dirty="0" err="1" smtClean="0"/>
              <a:t>SaaS</a:t>
            </a:r>
            <a:r>
              <a:rPr lang="en-US" altLang="ko-KR" dirty="0" smtClean="0"/>
              <a:t>  </a:t>
            </a:r>
            <a:r>
              <a:rPr lang="ko-KR" altLang="en-US" dirty="0" smtClean="0"/>
              <a:t>서비스</a:t>
            </a:r>
            <a:endParaRPr lang="en-US" altLang="ko-KR" dirty="0" smtClean="0"/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영상 </a:t>
            </a:r>
            <a:r>
              <a:rPr lang="en-US" altLang="ko-KR" dirty="0" smtClean="0"/>
              <a:t>Template </a:t>
            </a:r>
            <a:r>
              <a:rPr lang="ko-KR" altLang="en-US" dirty="0" smtClean="0"/>
              <a:t>기반 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928926" y="2000240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광고영상 제작 서비</a:t>
            </a:r>
            <a:r>
              <a:rPr lang="ko-KR" altLang="en-US" dirty="0" smtClean="0"/>
              <a:t>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1571604" y="3897035"/>
            <a:ext cx="5286412" cy="16036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357950" y="2468275"/>
            <a:ext cx="2286016" cy="923330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-KT </a:t>
            </a:r>
            <a:r>
              <a:rPr lang="ko-KR" altLang="en-US" dirty="0" smtClean="0"/>
              <a:t>사장님 </a:t>
            </a:r>
            <a:r>
              <a:rPr lang="en-US" altLang="ko-KR" dirty="0" smtClean="0"/>
              <a:t>TV</a:t>
            </a:r>
          </a:p>
          <a:p>
            <a:r>
              <a:rPr lang="en-US" altLang="ko-KR" dirty="0" smtClean="0"/>
              <a:t>-</a:t>
            </a:r>
            <a:r>
              <a:rPr lang="en-US" altLang="ko-KR" dirty="0" err="1" smtClean="0"/>
              <a:t>Youtube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- </a:t>
            </a:r>
            <a:r>
              <a:rPr lang="en-US" altLang="ko-KR" dirty="0" err="1" smtClean="0"/>
              <a:t>Instagram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43702" y="2039647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홍보 영상  배포 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643042" y="4325663"/>
            <a:ext cx="1071570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매장  소개</a:t>
            </a:r>
            <a:endParaRPr lang="en-US" altLang="ko-KR" sz="1100" dirty="0" smtClean="0"/>
          </a:p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 </a:t>
            </a:r>
            <a:r>
              <a:rPr lang="ko-KR" altLang="en-US" sz="1100" dirty="0" smtClean="0"/>
              <a:t>리뷰 데이터</a:t>
            </a:r>
            <a:endParaRPr lang="en-US" altLang="ko-KR" sz="1100" dirty="0" smtClean="0"/>
          </a:p>
          <a:p>
            <a:pPr>
              <a:buFontTx/>
              <a:buChar char="-"/>
            </a:pPr>
            <a:r>
              <a:rPr lang="ko-KR" altLang="en-US" sz="1100" dirty="0" smtClean="0"/>
              <a:t>사진 데이터 </a:t>
            </a:r>
            <a:endParaRPr lang="en-US" altLang="ko-KR" sz="1100" dirty="0" smtClean="0"/>
          </a:p>
          <a:p>
            <a:pPr>
              <a:buFontTx/>
              <a:buChar char="-"/>
            </a:pPr>
            <a:r>
              <a:rPr lang="ko-KR" altLang="en-US" sz="1100" dirty="0" err="1" smtClean="0"/>
              <a:t>블로그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643042" y="3968473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크롤</a:t>
            </a:r>
            <a:r>
              <a:rPr lang="ko-KR" altLang="en-US" sz="1400" dirty="0" err="1" smtClean="0"/>
              <a:t>러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2928926" y="4325663"/>
            <a:ext cx="1071570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err="1" smtClean="0"/>
              <a:t>챗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GPT </a:t>
            </a:r>
            <a:r>
              <a:rPr lang="ko-KR" altLang="en-US" sz="1100" dirty="0" smtClean="0"/>
              <a:t>홍보문구 생성 </a:t>
            </a:r>
            <a:endParaRPr lang="en-US" altLang="ko-KR" sz="1100" dirty="0" smtClean="0"/>
          </a:p>
          <a:p>
            <a:r>
              <a:rPr lang="en-US" altLang="ko-KR" sz="1100" dirty="0" smtClean="0"/>
              <a:t>- </a:t>
            </a:r>
            <a:r>
              <a:rPr lang="ko-KR" altLang="en-US" sz="1100" dirty="0" err="1" smtClean="0"/>
              <a:t>배경음</a:t>
            </a:r>
            <a:r>
              <a:rPr lang="ko-KR" altLang="en-US" sz="1100" dirty="0" smtClean="0"/>
              <a:t> 가사 생성 </a:t>
            </a:r>
            <a:endParaRPr lang="en-US" altLang="ko-KR" sz="110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4214810" y="4039911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BGM </a:t>
            </a:r>
            <a:r>
              <a:rPr lang="ko-KR" altLang="en-US" sz="1400" dirty="0" smtClean="0"/>
              <a:t>생성 </a:t>
            </a:r>
            <a:endParaRPr lang="ko-KR" alt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4214810" y="4325663"/>
            <a:ext cx="10715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광고용 노래 생성  서비스 연동  </a:t>
            </a:r>
            <a:endParaRPr lang="en-US" altLang="ko-KR" sz="1100" dirty="0" smtClean="0"/>
          </a:p>
        </p:txBody>
      </p:sp>
      <p:sp>
        <p:nvSpPr>
          <p:cNvPr id="35" name="TextBox 34"/>
          <p:cNvSpPr txBox="1"/>
          <p:nvPr/>
        </p:nvSpPr>
        <p:spPr>
          <a:xfrm>
            <a:off x="3000364" y="4039911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가사생성 </a:t>
            </a:r>
            <a:endParaRPr lang="ko-KR" alt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5429256" y="4039911"/>
            <a:ext cx="150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광고 영상 </a:t>
            </a:r>
            <a:r>
              <a:rPr lang="ko-KR" altLang="en-US" sz="1400" dirty="0" smtClean="0"/>
              <a:t>제</a:t>
            </a:r>
            <a:r>
              <a:rPr lang="ko-KR" altLang="en-US" sz="1400" dirty="0" smtClean="0"/>
              <a:t>작 </a:t>
            </a:r>
            <a:endParaRPr lang="ko-KR" alt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5572132" y="4325663"/>
            <a:ext cx="1071570" cy="938719"/>
          </a:xfrm>
          <a:prstGeom prst="rect">
            <a:avLst/>
          </a:prstGeom>
          <a:solidFill>
            <a:srgbClr val="FFC000"/>
          </a:solidFill>
          <a:ln w="12700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사진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배경음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홍보문구를  </a:t>
            </a:r>
            <a:r>
              <a:rPr lang="en-US" altLang="ko-KR" sz="1100" dirty="0" smtClean="0"/>
              <a:t>merge</a:t>
            </a:r>
            <a:r>
              <a:rPr lang="ko-KR" altLang="en-US" sz="1100" dirty="0" smtClean="0"/>
              <a:t>하여 홍보용 광고용 영상 제작   </a:t>
            </a:r>
            <a:endParaRPr lang="en-US" altLang="ko-KR" sz="1100" dirty="0" smtClean="0"/>
          </a:p>
        </p:txBody>
      </p:sp>
      <p:cxnSp>
        <p:nvCxnSpPr>
          <p:cNvPr id="40" name="직선 화살표 연결선 39"/>
          <p:cNvCxnSpPr>
            <a:endCxn id="19" idx="1"/>
          </p:cNvCxnSpPr>
          <p:nvPr/>
        </p:nvCxnSpPr>
        <p:spPr>
          <a:xfrm>
            <a:off x="1785918" y="2928934"/>
            <a:ext cx="1071570" cy="100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5286380" y="2896903"/>
            <a:ext cx="928694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19" idx="2"/>
          </p:cNvCxnSpPr>
          <p:nvPr/>
        </p:nvCxnSpPr>
        <p:spPr>
          <a:xfrm rot="5400000">
            <a:off x="3746987" y="3644320"/>
            <a:ext cx="506224" cy="7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29" idx="3"/>
          </p:cNvCxnSpPr>
          <p:nvPr/>
        </p:nvCxnSpPr>
        <p:spPr>
          <a:xfrm>
            <a:off x="2714612" y="4710384"/>
            <a:ext cx="285752" cy="45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flipV="1">
            <a:off x="4000496" y="4714884"/>
            <a:ext cx="214314" cy="132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V="1">
            <a:off x="5286380" y="4714884"/>
            <a:ext cx="285752" cy="1320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Y:\Project_ASR\free-icon-youtube-logo-13848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29520" y="2786058"/>
            <a:ext cx="285752" cy="285752"/>
          </a:xfrm>
          <a:prstGeom prst="rect">
            <a:avLst/>
          </a:prstGeom>
          <a:noFill/>
        </p:spPr>
      </p:pic>
      <p:pic>
        <p:nvPicPr>
          <p:cNvPr id="3075" name="Picture 3" descr="Y:\Project_ASR\instagra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72" y="3071810"/>
            <a:ext cx="266700" cy="266700"/>
          </a:xfrm>
          <a:prstGeom prst="rect">
            <a:avLst/>
          </a:prstGeom>
          <a:noFill/>
        </p:spPr>
      </p:pic>
      <p:pic>
        <p:nvPicPr>
          <p:cNvPr id="3076" name="Picture 4" descr="Y:\Project_ASR\free-icon-restaurant-building-920088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57290" y="2786058"/>
            <a:ext cx="285752" cy="285752"/>
          </a:xfrm>
          <a:prstGeom prst="rect">
            <a:avLst/>
          </a:prstGeom>
          <a:noFill/>
        </p:spPr>
      </p:pic>
      <p:pic>
        <p:nvPicPr>
          <p:cNvPr id="3077" name="Picture 5" descr="Y:\Project_ASR\free-icon-accomodation-7602946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2976" y="2428868"/>
            <a:ext cx="285752" cy="285752"/>
          </a:xfrm>
          <a:prstGeom prst="rect">
            <a:avLst/>
          </a:prstGeom>
          <a:noFill/>
        </p:spPr>
      </p:pic>
      <p:pic>
        <p:nvPicPr>
          <p:cNvPr id="3078" name="Picture 6" descr="Y:\Project_ASR\free-icon-driving-school-2606416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2976" y="3071810"/>
            <a:ext cx="285727" cy="2857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파워보이스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상담 복지 서비스 용 </a:t>
                      </a:r>
                      <a:r>
                        <a:rPr lang="en-US" altLang="ko-KR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STT</a:t>
                      </a:r>
                      <a:r>
                        <a:rPr lang="en-US" altLang="ko-KR" sz="16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상담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복지사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dirty="0" err="1" smtClean="0"/>
                        <a:t>딥러닝</a:t>
                      </a:r>
                      <a:r>
                        <a:rPr lang="ko-KR" altLang="en-US" sz="1600" dirty="0" smtClean="0"/>
                        <a:t> 기반의 </a:t>
                      </a:r>
                      <a:r>
                        <a:rPr lang="en-US" altLang="ko-KR" sz="1600" dirty="0" smtClean="0"/>
                        <a:t>E2E STT </a:t>
                      </a:r>
                      <a:r>
                        <a:rPr lang="ko-KR" altLang="en-US" sz="1600" dirty="0" smtClean="0"/>
                        <a:t>서비스 개발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콜봇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S/W </a:t>
                      </a:r>
                      <a:r>
                        <a:rPr lang="ko-KR" altLang="en-US" sz="1600" dirty="0" smtClean="0"/>
                        <a:t>구조 설계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Asterisk </a:t>
                      </a:r>
                      <a:r>
                        <a:rPr lang="ko-KR" altLang="en-US" sz="1600" dirty="0" smtClean="0"/>
                        <a:t>기반 </a:t>
                      </a:r>
                      <a:r>
                        <a:rPr lang="en-US" altLang="ko-KR" sz="1600" dirty="0" smtClean="0"/>
                        <a:t>IVR</a:t>
                      </a:r>
                      <a:r>
                        <a:rPr lang="ko-KR" altLang="en-US" sz="1600" dirty="0" smtClean="0"/>
                        <a:t>과 </a:t>
                      </a:r>
                      <a:r>
                        <a:rPr lang="en-US" altLang="ko-KR" sz="1600" dirty="0" smtClean="0"/>
                        <a:t>Voice</a:t>
                      </a:r>
                      <a:r>
                        <a:rPr lang="en-US" altLang="ko-KR" sz="1600" baseline="0" dirty="0" smtClean="0"/>
                        <a:t> Gateway </a:t>
                      </a:r>
                      <a:r>
                        <a:rPr lang="ko-KR" altLang="en-US" sz="1600" dirty="0" smtClean="0"/>
                        <a:t> 연동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Voice</a:t>
                      </a:r>
                      <a:r>
                        <a:rPr lang="en-US" altLang="ko-KR" sz="1600" baseline="0" dirty="0" smtClean="0"/>
                        <a:t> Gateway </a:t>
                      </a:r>
                      <a:r>
                        <a:rPr lang="ko-KR" altLang="en-US" sz="1600" baseline="0" dirty="0" smtClean="0"/>
                        <a:t>와 </a:t>
                      </a:r>
                      <a:r>
                        <a:rPr lang="en-US" altLang="ko-KR" sz="1600" dirty="0" smtClean="0"/>
                        <a:t>STT, TTS, </a:t>
                      </a:r>
                      <a:r>
                        <a:rPr lang="ko-KR" altLang="en-US" sz="1600" dirty="0" err="1" smtClean="0"/>
                        <a:t>챗봇</a:t>
                      </a:r>
                      <a:r>
                        <a:rPr lang="ko-KR" altLang="en-US" sz="1600" dirty="0" smtClean="0"/>
                        <a:t> 연동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err="1" smtClean="0"/>
                        <a:t>스트리밍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&amp; </a:t>
                      </a:r>
                      <a:r>
                        <a:rPr lang="ko-KR" altLang="en-US" sz="1600" dirty="0" smtClean="0"/>
                        <a:t>배치 방식의 음성 인식 서비스 개발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STT </a:t>
                      </a:r>
                      <a:r>
                        <a:rPr lang="ko-KR" altLang="en-US" sz="1600" dirty="0" smtClean="0"/>
                        <a:t>엔진 통합 및 모델 로드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도커</a:t>
                      </a:r>
                      <a:r>
                        <a:rPr lang="ko-KR" altLang="en-US" sz="1600" dirty="0" smtClean="0"/>
                        <a:t> 기반 </a:t>
                      </a:r>
                      <a:r>
                        <a:rPr lang="en-US" altLang="ko-KR" sz="1600" dirty="0" smtClean="0"/>
                        <a:t>S/W </a:t>
                      </a:r>
                      <a:r>
                        <a:rPr lang="ko-KR" altLang="en-US" sz="1600" dirty="0" smtClean="0"/>
                        <a:t>이미지 </a:t>
                      </a:r>
                      <a:r>
                        <a:rPr lang="ko-KR" altLang="en-US" sz="1600" dirty="0" err="1" smtClean="0"/>
                        <a:t>빌드</a:t>
                      </a:r>
                      <a:r>
                        <a:rPr lang="ko-KR" altLang="en-US" sz="1600" dirty="0" smtClean="0"/>
                        <a:t> 및 </a:t>
                      </a:r>
                      <a:r>
                        <a:rPr lang="en-US" altLang="ko-KR" sz="1600" dirty="0" smtClean="0"/>
                        <a:t>STT </a:t>
                      </a:r>
                      <a:r>
                        <a:rPr lang="ko-KR" altLang="en-US" sz="1600" dirty="0" smtClean="0"/>
                        <a:t>서비스 실행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도커</a:t>
                      </a:r>
                      <a:r>
                        <a:rPr lang="ko-KR" altLang="en-US" sz="1600" dirty="0" smtClean="0"/>
                        <a:t> 기반 </a:t>
                      </a:r>
                      <a:r>
                        <a:rPr lang="en-US" altLang="ko-KR" sz="1600" dirty="0" smtClean="0"/>
                        <a:t>STT </a:t>
                      </a:r>
                      <a:r>
                        <a:rPr lang="ko-KR" altLang="en-US" sz="1600" dirty="0" smtClean="0"/>
                        <a:t>학습 서버 구성 및 실행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 STT </a:t>
                      </a:r>
                      <a:r>
                        <a:rPr lang="ko-KR" altLang="en-US" sz="1600" dirty="0" smtClean="0"/>
                        <a:t>경량화 모델 개발 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dirty="0" smtClean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dirty="0" smtClean="0"/>
                        <a:t> STT </a:t>
                      </a:r>
                      <a:r>
                        <a:rPr lang="ko-KR" altLang="en-US" sz="1600" dirty="0" smtClean="0"/>
                        <a:t>연동을 위한 </a:t>
                      </a:r>
                      <a:r>
                        <a:rPr lang="ko-KR" altLang="en-US" sz="1600" dirty="0" err="1" smtClean="0"/>
                        <a:t>웹소켓</a:t>
                      </a:r>
                      <a:r>
                        <a:rPr lang="ko-KR" altLang="en-US" sz="1600" dirty="0" smtClean="0"/>
                        <a:t> 기반의 플러그인 개발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smtClean="0"/>
              <a:t>        </a:t>
            </a:r>
            <a:r>
              <a:rPr lang="en-US" altLang="ko-KR" sz="5400" dirty="0" smtClean="0">
                <a:solidFill>
                  <a:schemeClr val="dk1"/>
                </a:solidFill>
              </a:rPr>
              <a:t>AI </a:t>
            </a:r>
            <a:r>
              <a:rPr lang="ko-KR" altLang="en-US" sz="5400" dirty="0" smtClean="0">
                <a:solidFill>
                  <a:schemeClr val="dk1"/>
                </a:solidFill>
              </a:rPr>
              <a:t>상담 </a:t>
            </a:r>
            <a:r>
              <a:rPr lang="ko-KR" altLang="en-US" sz="5400" dirty="0" err="1" smtClean="0">
                <a:solidFill>
                  <a:schemeClr val="dk1"/>
                </a:solidFill>
              </a:rPr>
              <a:t>복지사</a:t>
            </a:r>
            <a:r>
              <a:rPr lang="ko-KR" altLang="en-US" sz="5400" dirty="0" smtClean="0">
                <a:solidFill>
                  <a:schemeClr val="dk1"/>
                </a:solidFill>
              </a:rPr>
              <a:t> </a:t>
            </a:r>
            <a:r>
              <a:rPr lang="en-US" altLang="ko-KR" sz="5400" dirty="0" smtClean="0">
                <a:solidFill>
                  <a:schemeClr val="dk1"/>
                </a:solidFill>
              </a:rPr>
              <a:t>S/W</a:t>
            </a:r>
            <a:endParaRPr lang="ko-KR" altLang="en-US" sz="5300" dirty="0">
              <a:latin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4282" y="257174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643042" y="3256726"/>
            <a:ext cx="1214446" cy="584775"/>
          </a:xfrm>
          <a:prstGeom prst="rect">
            <a:avLst/>
          </a:prstGeom>
          <a:noFill/>
          <a:ln w="22225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PSTN/SIP 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 trunk</a:t>
            </a:r>
            <a:endParaRPr lang="ko-KR" alt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785918" y="2928934"/>
            <a:ext cx="89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IP PBX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176452" y="2630840"/>
            <a:ext cx="162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Voice Gateway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428992" y="3143248"/>
            <a:ext cx="157163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altLang="ko-KR" sz="1600" dirty="0" smtClean="0"/>
              <a:t>Media Proc.</a:t>
            </a:r>
          </a:p>
          <a:p>
            <a:pPr>
              <a:buFontTx/>
              <a:buChar char="-"/>
            </a:pPr>
            <a:r>
              <a:rPr lang="en-US" altLang="ko-KR" sz="1600" dirty="0" smtClean="0"/>
              <a:t>VAD</a:t>
            </a:r>
          </a:p>
          <a:p>
            <a:pPr>
              <a:buFontTx/>
              <a:buChar char="-"/>
            </a:pPr>
            <a:r>
              <a:rPr lang="en-US" altLang="ko-KR" sz="1600" dirty="0" smtClean="0"/>
              <a:t>SIP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0686" y="2143116"/>
            <a:ext cx="17859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altLang="ko-KR" dirty="0" smtClean="0"/>
              <a:t>Speech to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6446" y="1714488"/>
            <a:ext cx="634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STT 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670686" y="3143248"/>
            <a:ext cx="2000264" cy="646331"/>
          </a:xfrm>
          <a:prstGeom prst="rect">
            <a:avLst/>
          </a:prstGeom>
          <a:solidFill>
            <a:srgbClr val="F4DEFE"/>
          </a:solidFill>
          <a:ln w="22225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altLang="ko-KR" dirty="0" smtClean="0"/>
              <a:t>Intent/Entity</a:t>
            </a:r>
          </a:p>
          <a:p>
            <a:pPr>
              <a:buFontTx/>
              <a:buChar char="-"/>
            </a:pPr>
            <a:r>
              <a:rPr lang="en-US" altLang="ko-KR" dirty="0" smtClean="0"/>
              <a:t>Dialog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124" y="2786058"/>
            <a:ext cx="767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NLU  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670686" y="4643446"/>
            <a:ext cx="178595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altLang="ko-KR" dirty="0" smtClean="0"/>
              <a:t>Text to Speech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124" y="3929066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TTS  </a:t>
            </a:r>
            <a:endParaRPr lang="ko-KR" altLang="en-US" dirty="0"/>
          </a:p>
        </p:txBody>
      </p:sp>
      <p:cxnSp>
        <p:nvCxnSpPr>
          <p:cNvPr id="34" name="구부러진 연결선 33"/>
          <p:cNvCxnSpPr>
            <a:endCxn id="24" idx="1"/>
          </p:cNvCxnSpPr>
          <p:nvPr/>
        </p:nvCxnSpPr>
        <p:spPr>
          <a:xfrm flipV="1">
            <a:off x="4099050" y="2327782"/>
            <a:ext cx="1571636" cy="815466"/>
          </a:xfrm>
          <a:prstGeom prst="curvedConnector3">
            <a:avLst>
              <a:gd name="adj1" fmla="val 5334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56240" y="2357430"/>
            <a:ext cx="1075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Audio stream</a:t>
            </a:r>
            <a:endParaRPr lang="ko-KR" altLang="en-US" sz="1200" dirty="0"/>
          </a:p>
        </p:txBody>
      </p:sp>
      <p:cxnSp>
        <p:nvCxnSpPr>
          <p:cNvPr id="43" name="Shape 42"/>
          <p:cNvCxnSpPr>
            <a:stCxn id="30" idx="1"/>
            <a:endCxn id="22" idx="2"/>
          </p:cNvCxnSpPr>
          <p:nvPr/>
        </p:nvCxnSpPr>
        <p:spPr>
          <a:xfrm rot="10800000">
            <a:off x="4214810" y="3974246"/>
            <a:ext cx="1455876" cy="853867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70488" y="4429132"/>
            <a:ext cx="1373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Synthesized Voice</a:t>
            </a:r>
            <a:endParaRPr lang="ko-KR" altLang="en-US" sz="1200" dirty="0"/>
          </a:p>
        </p:txBody>
      </p:sp>
      <p:sp>
        <p:nvSpPr>
          <p:cNvPr id="46" name="원통 45"/>
          <p:cNvSpPr/>
          <p:nvPr/>
        </p:nvSpPr>
        <p:spPr>
          <a:xfrm>
            <a:off x="8028140" y="3214686"/>
            <a:ext cx="901578" cy="857256"/>
          </a:xfrm>
          <a:prstGeom prst="can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059985" y="278605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  </a:t>
            </a:r>
            <a:endParaRPr lang="ko-KR" altLang="en-US" dirty="0"/>
          </a:p>
        </p:txBody>
      </p:sp>
      <p:cxnSp>
        <p:nvCxnSpPr>
          <p:cNvPr id="54" name="꺾인 연결선 53"/>
          <p:cNvCxnSpPr>
            <a:stCxn id="28" idx="3"/>
            <a:endCxn id="46" idx="2"/>
          </p:cNvCxnSpPr>
          <p:nvPr/>
        </p:nvCxnSpPr>
        <p:spPr>
          <a:xfrm>
            <a:off x="7670950" y="3466414"/>
            <a:ext cx="357190" cy="1769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143900" y="3500438"/>
            <a:ext cx="714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대화이력</a:t>
            </a:r>
            <a:endParaRPr lang="ko-KR" altLang="en-US" sz="1400" dirty="0"/>
          </a:p>
        </p:txBody>
      </p:sp>
      <p:pic>
        <p:nvPicPr>
          <p:cNvPr id="2052" name="Picture 4" descr="Y:\Project_ASR\free-icon-video-cal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3071810"/>
            <a:ext cx="985804" cy="985804"/>
          </a:xfrm>
          <a:prstGeom prst="rect">
            <a:avLst/>
          </a:prstGeom>
          <a:noFill/>
        </p:spPr>
      </p:pic>
      <p:cxnSp>
        <p:nvCxnSpPr>
          <p:cNvPr id="62" name="꺾인 연결선 61"/>
          <p:cNvCxnSpPr/>
          <p:nvPr/>
        </p:nvCxnSpPr>
        <p:spPr>
          <a:xfrm>
            <a:off x="1071538" y="3571876"/>
            <a:ext cx="500066" cy="158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28662" y="3214686"/>
            <a:ext cx="1000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상담 통화 </a:t>
            </a:r>
            <a:endParaRPr lang="ko-KR" altLang="en-US" sz="1100" dirty="0"/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5143504" y="3500438"/>
            <a:ext cx="428628" cy="131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00628" y="3286124"/>
            <a:ext cx="571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질의 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78" name="직선 화살표 연결선 77"/>
          <p:cNvCxnSpPr>
            <a:stCxn id="19" idx="3"/>
            <a:endCxn id="22" idx="1"/>
          </p:cNvCxnSpPr>
          <p:nvPr/>
        </p:nvCxnSpPr>
        <p:spPr>
          <a:xfrm>
            <a:off x="2857488" y="3549114"/>
            <a:ext cx="571504" cy="9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857488" y="3357562"/>
            <a:ext cx="64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SIP</a:t>
            </a:r>
          </a:p>
          <a:p>
            <a:r>
              <a:rPr lang="en-US" altLang="ko-KR" sz="1200" dirty="0" smtClean="0"/>
              <a:t>/RTP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바인텔레콤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군 통신장비용 </a:t>
                      </a:r>
                      <a:r>
                        <a:rPr lang="en-US" altLang="ko-KR" sz="1600" dirty="0" smtClean="0"/>
                        <a:t>S/W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dirty="0" smtClean="0"/>
                        <a:t>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곤충로봇 </a:t>
                      </a:r>
                      <a:r>
                        <a:rPr lang="en-US" altLang="ko-KR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 </a:t>
                      </a:r>
                      <a:endParaRPr lang="ko-KR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dirty="0" smtClean="0"/>
                        <a:t>주행 제어용 </a:t>
                      </a:r>
                      <a:r>
                        <a:rPr lang="en-US" altLang="ko-KR" sz="1600" dirty="0" smtClean="0"/>
                        <a:t>SDK </a:t>
                      </a:r>
                      <a:r>
                        <a:rPr lang="ko-KR" altLang="en-US" sz="1600" dirty="0" smtClean="0"/>
                        <a:t>개발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smtClean="0"/>
                        <a:t>곤충로봇 제어를 위한 원격 제어기와 통신 프로토콜 개발 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smtClean="0"/>
                        <a:t>카메라 영상 </a:t>
                      </a:r>
                      <a:r>
                        <a:rPr lang="ko-KR" altLang="en-US" sz="1600" dirty="0" err="1" smtClean="0"/>
                        <a:t>스트리밍</a:t>
                      </a:r>
                      <a:r>
                        <a:rPr lang="ko-KR" altLang="en-US" sz="1600" dirty="0" smtClean="0"/>
                        <a:t> 서비스 개발  </a:t>
                      </a:r>
                      <a:endParaRPr lang="ko-KR" altLang="en-US" sz="14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smtClean="0"/>
                        <a:t>곤충로봇에 장착된 센서로부터 실시간 데이터 수집 및 전송기 개발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ko-KR" altLang="en-US" sz="1600" dirty="0" smtClean="0"/>
                        <a:t>관성 모션 센서</a:t>
                      </a:r>
                      <a:r>
                        <a:rPr lang="en-US" altLang="ko-KR" sz="1600" dirty="0" smtClean="0"/>
                        <a:t>( IMU) </a:t>
                      </a:r>
                      <a:r>
                        <a:rPr lang="ko-KR" altLang="en-US" sz="1600" dirty="0" smtClean="0"/>
                        <a:t>로부터 </a:t>
                      </a:r>
                      <a:r>
                        <a:rPr lang="ko-KR" altLang="en-US" sz="1600" dirty="0" err="1" smtClean="0"/>
                        <a:t>가속도값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,</a:t>
                      </a:r>
                      <a:r>
                        <a:rPr lang="ko-KR" altLang="en-US" sz="1600" dirty="0" smtClean="0"/>
                        <a:t>방향각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자기센서값</a:t>
                      </a:r>
                      <a:r>
                        <a:rPr lang="ko-KR" altLang="en-US" sz="1600" dirty="0" smtClean="0"/>
                        <a:t> 수집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ko-KR" altLang="en-US" sz="1600" dirty="0" smtClean="0"/>
                        <a:t>다리 압력센서로부터 </a:t>
                      </a:r>
                      <a:r>
                        <a:rPr lang="en-US" altLang="ko-KR" sz="1600" dirty="0" smtClean="0"/>
                        <a:t>ADC 8</a:t>
                      </a:r>
                      <a:r>
                        <a:rPr lang="ko-KR" altLang="en-US" sz="1600" dirty="0" smtClean="0"/>
                        <a:t>채널 </a:t>
                      </a:r>
                      <a:r>
                        <a:rPr lang="ko-KR" altLang="en-US" sz="1600" dirty="0" err="1" smtClean="0"/>
                        <a:t>센서값</a:t>
                      </a:r>
                      <a:r>
                        <a:rPr lang="ko-KR" altLang="en-US" sz="1600" dirty="0" smtClean="0"/>
                        <a:t> 수집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altLang="ko-KR" sz="1600" dirty="0" smtClean="0"/>
                        <a:t>PWM </a:t>
                      </a:r>
                      <a:r>
                        <a:rPr lang="ko-KR" altLang="en-US" sz="1600" dirty="0" smtClean="0"/>
                        <a:t>에 의한 </a:t>
                      </a:r>
                      <a:r>
                        <a:rPr lang="en-US" altLang="ko-KR" sz="1600" dirty="0" smtClean="0"/>
                        <a:t>BLDC </a:t>
                      </a:r>
                      <a:r>
                        <a:rPr lang="ko-KR" altLang="en-US" sz="1600" dirty="0" smtClean="0"/>
                        <a:t>모터제어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ko-KR" altLang="en-US" sz="1600" dirty="0" smtClean="0"/>
                        <a:t>마이크 음성 센서 연동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ko-KR" altLang="en-US" sz="1600" dirty="0" smtClean="0"/>
                        <a:t>거리센서 연동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ko-KR" altLang="en-US" sz="1600" dirty="0" err="1" smtClean="0"/>
                        <a:t>바테리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SOC, </a:t>
                      </a:r>
                      <a:r>
                        <a:rPr lang="ko-KR" altLang="en-US" sz="1600" dirty="0" smtClean="0"/>
                        <a:t>전압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전류 값 수집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 err="1" smtClean="0"/>
                        <a:t>블루투스</a:t>
                      </a:r>
                      <a:r>
                        <a:rPr lang="ko-KR" altLang="en-US" sz="1600" dirty="0" smtClean="0"/>
                        <a:t> 통신을 사용하여 로봇 주행 제어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             </a:t>
            </a:r>
            <a:r>
              <a:rPr lang="ko-KR" altLang="en-US" dirty="0" smtClean="0"/>
              <a:t>곤충 로봇 </a:t>
            </a:r>
            <a:r>
              <a:rPr lang="en-US" altLang="ko-KR" dirty="0" smtClean="0"/>
              <a:t>S/W </a:t>
            </a:r>
            <a:endParaRPr lang="ko-KR" altLang="en-US" sz="5300" dirty="0">
              <a:latin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224" y="4357694"/>
            <a:ext cx="1785950" cy="738664"/>
          </a:xfrm>
          <a:prstGeom prst="rect">
            <a:avLst/>
          </a:prstGeom>
          <a:noFill/>
          <a:ln w="19050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ko-KR" altLang="en-US" sz="1400" dirty="0" smtClean="0"/>
              <a:t>실시간 카메라영상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주행정보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각종 센서 정보 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928662" y="2500306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원격 제어기  </a:t>
            </a:r>
            <a:endParaRPr lang="ko-KR" altLang="en-US" dirty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3303302" y="3563924"/>
            <a:ext cx="150019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60426" y="3278172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XXX</a:t>
            </a:r>
            <a:r>
              <a:rPr lang="ko-KR" altLang="en-US" dirty="0" smtClean="0"/>
              <a:t>로 주행 </a:t>
            </a:r>
            <a:endParaRPr lang="ko-KR" altLang="en-US" dirty="0"/>
          </a:p>
        </p:txBody>
      </p:sp>
      <p:cxnSp>
        <p:nvCxnSpPr>
          <p:cNvPr id="24" name="직선 화살표 연결선 23"/>
          <p:cNvCxnSpPr/>
          <p:nvPr/>
        </p:nvCxnSpPr>
        <p:spPr>
          <a:xfrm rot="10800000">
            <a:off x="3160426" y="3849676"/>
            <a:ext cx="15716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03302" y="3849676"/>
            <a:ext cx="1571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 카메라 영상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주변 음성 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  </a:t>
            </a:r>
            <a:r>
              <a:rPr lang="ko-KR" altLang="en-US" sz="1200" dirty="0" err="1" smtClean="0"/>
              <a:t>다리압력센서값</a:t>
            </a:r>
            <a:r>
              <a:rPr lang="en-US" altLang="ko-KR" sz="1200" dirty="0" smtClean="0"/>
              <a:t>,  </a:t>
            </a:r>
            <a:r>
              <a:rPr lang="ko-KR" altLang="en-US" sz="1200" dirty="0" smtClean="0"/>
              <a:t>주변 장애물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바테리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잔량정보 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6215074" y="242886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곤충로봇  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215074" y="2928934"/>
            <a:ext cx="2357486" cy="2308324"/>
          </a:xfrm>
          <a:prstGeom prst="rect">
            <a:avLst/>
          </a:prstGeom>
          <a:noFill/>
          <a:ln w="19050">
            <a:solidFill>
              <a:schemeClr val="accent1">
                <a:shade val="50000"/>
                <a:satMod val="103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ko-KR" altLang="en-US" sz="1400" dirty="0" smtClean="0"/>
              <a:t>실시간 센서 데이터  전송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블루통신방식의 주행 제어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카메라 영상 </a:t>
            </a:r>
            <a:r>
              <a:rPr lang="ko-KR" altLang="en-US" sz="1400" dirty="0" err="1" smtClean="0"/>
              <a:t>스트리잉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센서 </a:t>
            </a:r>
            <a:r>
              <a:rPr lang="ko-KR" altLang="en-US" sz="1400" dirty="0" smtClean="0"/>
              <a:t>데이터 수집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en-US" altLang="ko-KR" sz="1400" dirty="0" smtClean="0"/>
              <a:t>IMU </a:t>
            </a:r>
            <a:r>
              <a:rPr lang="ko-KR" altLang="en-US" sz="1400" dirty="0" smtClean="0"/>
              <a:t>센서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다리 압력센서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마이크 음성센서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smtClean="0"/>
              <a:t>거리센서 </a:t>
            </a:r>
            <a:endParaRPr lang="en-US" altLang="ko-KR" sz="1400" dirty="0" smtClean="0"/>
          </a:p>
          <a:p>
            <a:pPr>
              <a:buFontTx/>
              <a:buChar char="-"/>
            </a:pPr>
            <a:r>
              <a:rPr lang="ko-KR" altLang="en-US" sz="1400" dirty="0" err="1" smtClean="0"/>
              <a:t>바테리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SOC </a:t>
            </a:r>
            <a:r>
              <a:rPr lang="ko-KR" altLang="en-US" sz="1400" dirty="0" smtClean="0"/>
              <a:t>수집 </a:t>
            </a:r>
            <a:endParaRPr lang="en-US" altLang="ko-KR" sz="1400" dirty="0" smtClean="0"/>
          </a:p>
          <a:p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1026" name="Picture 2" descr="Y:\Project_ASR\free-icon-bu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3143248"/>
            <a:ext cx="1000132" cy="1000132"/>
          </a:xfrm>
          <a:prstGeom prst="rect">
            <a:avLst/>
          </a:prstGeom>
          <a:noFill/>
        </p:spPr>
      </p:pic>
      <p:pic>
        <p:nvPicPr>
          <p:cNvPr id="1027" name="Picture 3" descr="Y:\Project_ASR\free-icon-controller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4414" y="3000372"/>
            <a:ext cx="857256" cy="857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스마일</a:t>
                      </a:r>
                      <a:r>
                        <a:rPr lang="ko-KR" altLang="en-US" baseline="0" dirty="0" err="1" smtClean="0"/>
                        <a:t>게이트</a:t>
                      </a:r>
                      <a:r>
                        <a:rPr lang="ko-KR" altLang="en-US" baseline="0" dirty="0" smtClean="0"/>
                        <a:t> 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추천 시스템관련 </a:t>
                      </a:r>
                      <a:r>
                        <a:rPr lang="ko-KR" altLang="en-US" sz="16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딥러닝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모델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강화학습 기반 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썸네일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크로핑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생성모델 개발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600" dirty="0" smtClean="0"/>
                        <a:t>Aesthetics Aware Reinforcement Learning </a:t>
                      </a:r>
                      <a:r>
                        <a:rPr lang="ko-KR" altLang="en-US" sz="1600" dirty="0" smtClean="0"/>
                        <a:t>모델 </a:t>
                      </a:r>
                      <a:r>
                        <a:rPr lang="en-US" altLang="ko-KR" sz="1600" dirty="0" smtClean="0"/>
                        <a:t>Study &amp; Training </a:t>
                      </a:r>
                      <a:r>
                        <a:rPr lang="ko-KR" altLang="en-US" sz="1600" dirty="0" smtClean="0"/>
                        <a:t>모델 개발 </a:t>
                      </a:r>
                      <a:endParaRPr lang="en-US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dirty="0" smtClean="0"/>
                        <a:t>View Finding Network Study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600" dirty="0" smtClean="0"/>
                        <a:t>A2RL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학습 알고리즘 구현  </a:t>
                      </a:r>
                      <a:endParaRPr lang="en-US" sz="1600" dirty="0" smtClean="0"/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학습</a:t>
                      </a: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데이터셋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구축 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AVA </a:t>
                      </a:r>
                      <a:r>
                        <a:rPr lang="en-US" altLang="ko-KR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검증 </a:t>
                      </a:r>
                      <a:r>
                        <a:rPr lang="ko-KR" altLang="en-US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데이터셋</a:t>
                      </a: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구축 </a:t>
                      </a: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AVA </a:t>
                      </a:r>
                      <a:r>
                        <a:rPr lang="en-US" altLang="ko-KR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Evaluation : </a:t>
                      </a:r>
                      <a:r>
                        <a:rPr lang="en-US" altLang="ko-KR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Flickr</a:t>
                      </a: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, CUHK-ICD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텐서플로우</a:t>
                      </a:r>
                      <a:r>
                        <a:rPr lang="en-US" altLang="ko-K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케라스</a:t>
                      </a:r>
                      <a:r>
                        <a:rPr lang="ko-KR" altLang="en-US" sz="16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기반 학습 모델 개발 </a:t>
                      </a:r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90890" y="4710120"/>
            <a:ext cx="876068" cy="646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31" tIns="45715" rIns="91431" bIns="45715" rtlCol="0">
            <a:spAutoFit/>
          </a:bodyPr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+mn-ea"/>
              </a:rPr>
              <a:t>전처리</a:t>
            </a:r>
            <a:endParaRPr lang="en-US" altLang="ko-KR" sz="900" dirty="0" smtClean="0">
              <a:latin typeface="+mn-ea"/>
            </a:endParaRPr>
          </a:p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900" dirty="0" smtClean="0">
                <a:latin typeface="+mn-ea"/>
                <a:ea typeface="+mn-ea"/>
              </a:rPr>
              <a:t>Image Resizing 227x227x3</a:t>
            </a:r>
            <a:endParaRPr kumimoji="0" lang="ko-KR" altLang="en-US" sz="900" dirty="0" err="1" smtClean="0"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7881" y="4466158"/>
            <a:ext cx="1324865" cy="10618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31" tIns="45715" rIns="91431" bIns="45715" rtlCol="0">
            <a:spAutoFit/>
          </a:bodyPr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VFN</a:t>
            </a: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Conv5</a:t>
            </a:r>
          </a:p>
          <a:p>
            <a:pPr marL="171450" indent="-171450" defTabSz="91421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 err="1" smtClean="0">
                <a:latin typeface="+mn-ea"/>
              </a:rPr>
              <a:t>AlexNet</a:t>
            </a:r>
            <a:endParaRPr lang="en-US" altLang="ko-KR" sz="900" dirty="0" smtClean="0">
              <a:latin typeface="+mn-ea"/>
            </a:endParaRP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 smtClean="0">
                <a:latin typeface="+mn-ea"/>
              </a:rPr>
              <a:t>Ouput</a:t>
            </a:r>
            <a:r>
              <a:rPr lang="en-US" altLang="ko-KR" sz="900" dirty="0" smtClean="0">
                <a:latin typeface="+mn-ea"/>
              </a:rPr>
              <a:t> :</a:t>
            </a:r>
          </a:p>
          <a:p>
            <a:pPr marL="171450" indent="-171450" defTabSz="914218"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latin typeface="+mn-ea"/>
              </a:rPr>
              <a:t>Feature Vector :1000Dim</a:t>
            </a:r>
          </a:p>
          <a:p>
            <a:pPr marL="171450" indent="-171450" defTabSz="914218"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latin typeface="+mn-ea"/>
              </a:rPr>
              <a:t>Score  </a:t>
            </a:r>
            <a:endParaRPr kumimoji="0" lang="ko-KR" altLang="en-US" sz="900" dirty="0" err="1" smtClean="0"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86644" y="4262442"/>
            <a:ext cx="1324865" cy="147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31" tIns="45715" rIns="91431" bIns="45715" rtlCol="0">
            <a:spAutoFit/>
          </a:bodyPr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Agent</a:t>
            </a: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FC + LSTM </a:t>
            </a: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err="1" smtClean="0">
                <a:latin typeface="+mn-ea"/>
              </a:rPr>
              <a:t>Ouput</a:t>
            </a:r>
            <a:r>
              <a:rPr lang="en-US" altLang="ko-KR" sz="900" dirty="0" smtClean="0">
                <a:latin typeface="+mn-ea"/>
              </a:rPr>
              <a:t> :</a:t>
            </a:r>
          </a:p>
          <a:p>
            <a:pPr marL="171450" indent="-171450" defTabSz="91421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latin typeface="+mn-ea"/>
              </a:rPr>
              <a:t>Feature Vector :1024Dim</a:t>
            </a: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Actor </a:t>
            </a:r>
          </a:p>
          <a:p>
            <a:pPr marL="171450" indent="-171450" defTabSz="91421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latin typeface="+mn-ea"/>
              </a:rPr>
              <a:t>Output : Action</a:t>
            </a:r>
          </a:p>
          <a:p>
            <a:pPr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Critic </a:t>
            </a:r>
          </a:p>
          <a:p>
            <a:pPr marL="171450" indent="-171450" defTabSz="91421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latin typeface="+mn-ea"/>
              </a:rPr>
              <a:t>Output : State Value  </a:t>
            </a:r>
            <a:endParaRPr kumimoji="0" lang="ko-KR" altLang="en-US" sz="900" dirty="0" err="1" smtClean="0">
              <a:latin typeface="+mn-ea"/>
              <a:ea typeface="+mn-ea"/>
            </a:endParaRPr>
          </a:p>
        </p:txBody>
      </p:sp>
      <p:cxnSp>
        <p:nvCxnSpPr>
          <p:cNvPr id="17" name="꺾인 연결선 16"/>
          <p:cNvCxnSpPr>
            <a:stCxn id="16" idx="2"/>
            <a:endCxn id="15" idx="2"/>
          </p:cNvCxnSpPr>
          <p:nvPr/>
        </p:nvCxnSpPr>
        <p:spPr>
          <a:xfrm rot="5400000" flipH="1">
            <a:off x="6688805" y="4479487"/>
            <a:ext cx="211782" cy="2308763"/>
          </a:xfrm>
          <a:prstGeom prst="bentConnector3">
            <a:avLst>
              <a:gd name="adj1" fmla="val -1079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00826" y="5638814"/>
            <a:ext cx="1000132" cy="369322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</a:rPr>
              <a:t>Cropped Image </a:t>
            </a:r>
            <a:endParaRPr kumimoji="0" lang="ko-KR" altLang="en-US" sz="900" dirty="0" err="1" smtClean="0">
              <a:latin typeface="+mn-ea"/>
              <a:ea typeface="+mn-ea"/>
            </a:endParaRPr>
          </a:p>
        </p:txBody>
      </p:sp>
      <p:cxnSp>
        <p:nvCxnSpPr>
          <p:cNvPr id="23" name="직선 화살표 연결선 22"/>
          <p:cNvCxnSpPr>
            <a:endCxn id="15" idx="1"/>
          </p:cNvCxnSpPr>
          <p:nvPr/>
        </p:nvCxnSpPr>
        <p:spPr>
          <a:xfrm>
            <a:off x="4286248" y="4995872"/>
            <a:ext cx="691633" cy="1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15" idx="3"/>
            <a:endCxn id="16" idx="1"/>
          </p:cNvCxnSpPr>
          <p:nvPr/>
        </p:nvCxnSpPr>
        <p:spPr>
          <a:xfrm>
            <a:off x="6302746" y="4997068"/>
            <a:ext cx="983898" cy="4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1472" y="1142984"/>
            <a:ext cx="8358246" cy="2565655"/>
          </a:xfrm>
          <a:prstGeom prst="rect">
            <a:avLst/>
          </a:prstGeom>
        </p:spPr>
      </p:pic>
      <p:pic>
        <p:nvPicPr>
          <p:cNvPr id="32" name="그림 31" descr="hyper Pa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72" y="3857628"/>
            <a:ext cx="2600546" cy="2770675"/>
          </a:xfrm>
          <a:prstGeom prst="rect">
            <a:avLst/>
          </a:prstGeom>
        </p:spPr>
      </p:pic>
      <p:sp>
        <p:nvSpPr>
          <p:cNvPr id="36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                         A2RL Network</a:t>
            </a:r>
            <a:endParaRPr lang="ko-KR" altLang="en-US" sz="5300" dirty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            </a:t>
            </a:r>
            <a:r>
              <a:rPr lang="en-US" altLang="ko-KR" sz="4900" dirty="0" smtClean="0"/>
              <a:t>Training A2RL </a:t>
            </a:r>
            <a:r>
              <a:rPr lang="en-US" altLang="ko-KR" dirty="0" smtClean="0"/>
              <a:t>Network</a:t>
            </a:r>
            <a:endParaRPr lang="ko-KR" altLang="en-US" sz="5300" dirty="0">
              <a:latin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66" y="1500174"/>
            <a:ext cx="5857916" cy="4428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71438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ko-KR" altLang="en-US" sz="3600" dirty="0" err="1" smtClean="0"/>
              <a:t>딥러닝</a:t>
            </a:r>
            <a:r>
              <a:rPr lang="ko-KR" altLang="en-US" sz="3600" dirty="0" smtClean="0"/>
              <a:t> 기반  </a:t>
            </a:r>
            <a:r>
              <a:rPr lang="en-US" altLang="ko-KR" sz="3600" dirty="0" smtClean="0"/>
              <a:t>Spine Fracture</a:t>
            </a:r>
            <a:r>
              <a:rPr lang="ko-KR" altLang="en-US" sz="3600" dirty="0" smtClean="0"/>
              <a:t>진단 모델 개발</a:t>
            </a:r>
            <a:endParaRPr lang="ko-KR" altLang="en-US" sz="3600" dirty="0"/>
          </a:p>
        </p:txBody>
      </p:sp>
      <p:pic>
        <p:nvPicPr>
          <p:cNvPr id="17" name="그림 16" descr="spine 이미지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1643050"/>
            <a:ext cx="8158189" cy="4573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7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일리시스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지능형 영상 분석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 비전센서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어플라이언스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관리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 Architecture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MEAN Stack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웹어플리케이션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관리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네트웍설정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펌웨어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업그레이드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타임설정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 설정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어플리케이션과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웹서버간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gRPC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연동 인터페이스 설계 및 구현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ONVIF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카메라 검색 인터페이스 설계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Intelligence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히트맵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히스토그램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차트 기능 구현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이벤트 통계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통계 </a:t>
                      </a:r>
                    </a:p>
                    <a:p>
                      <a:pPr lvl="0" latinLnBrk="1"/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직선 연결선 68"/>
          <p:cNvCxnSpPr>
            <a:endCxn id="67" idx="0"/>
          </p:cNvCxnSpPr>
          <p:nvPr/>
        </p:nvCxnSpPr>
        <p:spPr>
          <a:xfrm rot="16200000" flipH="1">
            <a:off x="1593691" y="3843860"/>
            <a:ext cx="2615294" cy="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305800" cy="78581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anchor="t" anchorCtr="0">
            <a:normAutofit fontScale="90000"/>
          </a:bodyPr>
          <a:lstStyle/>
          <a:p>
            <a:r>
              <a:rPr lang="en-US" altLang="ko-KR" dirty="0" smtClean="0"/>
              <a:t>                          </a:t>
            </a:r>
            <a:r>
              <a:rPr lang="en-US" altLang="ko-KR" sz="3600" dirty="0" smtClean="0">
                <a:latin typeface="+mj-ea"/>
              </a:rPr>
              <a:t>VA System</a:t>
            </a:r>
            <a:endParaRPr lang="ko-KR" altLang="en-US" sz="5300" dirty="0">
              <a:latin typeface="+mj-ea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47564" y="1916832"/>
            <a:ext cx="1584176" cy="323787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419872" y="1966266"/>
            <a:ext cx="1728192" cy="110269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6084168" y="1916832"/>
            <a:ext cx="2376264" cy="43204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55865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Browser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43908" y="196626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웹서버</a:t>
            </a:r>
            <a:endParaRPr lang="en-US" altLang="ko-KR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6804248" y="154750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IntelliVIX</a:t>
            </a:r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893202" y="2420888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VA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897256" y="4109425"/>
            <a:ext cx="1080120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Player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893202" y="3170987"/>
            <a:ext cx="1060748" cy="684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분석</a:t>
            </a:r>
            <a:r>
              <a:rPr lang="ko-KR" altLang="en-US" sz="1200" b="1" dirty="0"/>
              <a:t> </a:t>
            </a:r>
            <a:r>
              <a:rPr lang="ko-KR" altLang="en-US" sz="1200" b="1" dirty="0" smtClean="0"/>
              <a:t>시각화</a:t>
            </a:r>
            <a:endParaRPr lang="ko-KR" altLang="en-US" sz="1200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3419872" y="4221088"/>
            <a:ext cx="1800200" cy="7920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530014" y="4432466"/>
            <a:ext cx="1640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Media Server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610029" y="4069770"/>
            <a:ext cx="1557705" cy="90375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스트림서버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7283212" y="2384884"/>
            <a:ext cx="936104" cy="7920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VA </a:t>
            </a:r>
            <a:r>
              <a:rPr lang="ko-KR" altLang="en-US" sz="1600" dirty="0" smtClean="0"/>
              <a:t>엔진</a:t>
            </a:r>
            <a:endParaRPr lang="ko-KR" altLang="en-US" sz="1600" dirty="0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1973322" y="2539409"/>
            <a:ext cx="216663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5096258" y="2600908"/>
            <a:ext cx="1074895" cy="9633"/>
          </a:xfrm>
          <a:prstGeom prst="straightConnector1">
            <a:avLst/>
          </a:prstGeom>
          <a:ln w="31750">
            <a:prstDash val="lg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7" idx="1"/>
          </p:cNvCxnSpPr>
          <p:nvPr/>
        </p:nvCxnSpPr>
        <p:spPr>
          <a:xfrm flipH="1" flipV="1">
            <a:off x="5201583" y="4521645"/>
            <a:ext cx="1408446" cy="1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1973322" y="4534137"/>
            <a:ext cx="1461967" cy="7336"/>
          </a:xfrm>
          <a:prstGeom prst="straightConnector1">
            <a:avLst/>
          </a:prstGeom>
          <a:ln w="31750">
            <a:solidFill>
              <a:srgbClr val="00B050"/>
            </a:solidFill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4071934" y="3428999"/>
            <a:ext cx="1292154" cy="6032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rgbClr val="C00000"/>
                </a:solidFill>
              </a:rPr>
              <a:t>이벤트 서버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cxnSp>
        <p:nvCxnSpPr>
          <p:cNvPr id="30" name="꺾인 연결선 29"/>
          <p:cNvCxnSpPr>
            <a:stCxn id="18" idx="2"/>
            <a:endCxn id="28" idx="3"/>
          </p:cNvCxnSpPr>
          <p:nvPr/>
        </p:nvCxnSpPr>
        <p:spPr>
          <a:xfrm rot="5400000">
            <a:off x="6280858" y="2260202"/>
            <a:ext cx="553637" cy="2387176"/>
          </a:xfrm>
          <a:prstGeom prst="bentConnector2">
            <a:avLst/>
          </a:prstGeom>
          <a:ln w="317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16200000" flipV="1">
            <a:off x="4320258" y="3248696"/>
            <a:ext cx="360039" cy="570"/>
          </a:xfrm>
          <a:prstGeom prst="straightConnector1">
            <a:avLst/>
          </a:prstGeom>
          <a:ln w="317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/>
          <p:nvPr/>
        </p:nvCxnSpPr>
        <p:spPr>
          <a:xfrm rot="10800000" flipV="1">
            <a:off x="1973322" y="3068960"/>
            <a:ext cx="1956996" cy="444066"/>
          </a:xfrm>
          <a:prstGeom prst="bentConnector3">
            <a:avLst>
              <a:gd name="adj1" fmla="val 228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71036" y="3342413"/>
            <a:ext cx="133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7030A0"/>
                </a:solidFill>
              </a:rPr>
              <a:t>Meta Data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69317" y="3215515"/>
            <a:ext cx="150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7030A0"/>
                </a:solidFill>
              </a:rPr>
              <a:t>Meta Data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02852" y="4178319"/>
            <a:ext cx="11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en-US" altLang="ko-KR" dirty="0" smtClean="0">
                <a:solidFill>
                  <a:srgbClr val="7030A0"/>
                </a:solidFill>
              </a:rPr>
              <a:t>Video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204286" y="4164805"/>
            <a:ext cx="11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en-US" altLang="ko-KR" dirty="0" smtClean="0">
                <a:solidFill>
                  <a:srgbClr val="7030A0"/>
                </a:solidFill>
              </a:rPr>
              <a:t>Video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15310" y="2148281"/>
            <a:ext cx="11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en-US" altLang="ko-KR" dirty="0" err="1" smtClean="0">
                <a:solidFill>
                  <a:srgbClr val="7030A0"/>
                </a:solidFill>
              </a:rPr>
              <a:t>Config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96258" y="2155076"/>
            <a:ext cx="110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en-US" altLang="ko-KR" dirty="0" err="1" smtClean="0">
                <a:solidFill>
                  <a:srgbClr val="7030A0"/>
                </a:solidFill>
              </a:rPr>
              <a:t>Config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51" name="순서도: 자기 디스크 50"/>
          <p:cNvSpPr/>
          <p:nvPr/>
        </p:nvSpPr>
        <p:spPr>
          <a:xfrm>
            <a:off x="6521668" y="5301208"/>
            <a:ext cx="1646066" cy="653714"/>
          </a:xfrm>
          <a:prstGeom prst="flowChartMagneticDisk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000" b="1" dirty="0" smtClean="0"/>
              <a:t>  입력채널</a:t>
            </a:r>
            <a:endParaRPr lang="en-US" altLang="ko-KR" sz="10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000" b="1" dirty="0" smtClean="0"/>
              <a:t>  VA </a:t>
            </a:r>
            <a:r>
              <a:rPr lang="en-US" altLang="ko-KR" sz="1000" b="1" dirty="0" err="1" smtClean="0"/>
              <a:t>Configs</a:t>
            </a:r>
            <a:endParaRPr lang="en-US" altLang="ko-KR" sz="10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000" b="1" dirty="0" smtClean="0"/>
              <a:t>  Video Profile</a:t>
            </a:r>
          </a:p>
          <a:p>
            <a:pPr algn="ctr"/>
            <a:endParaRPr lang="ko-KR" altLang="en-US" sz="1200" dirty="0"/>
          </a:p>
        </p:txBody>
      </p:sp>
      <p:sp>
        <p:nvSpPr>
          <p:cNvPr id="53" name="직사각형 52"/>
          <p:cNvSpPr/>
          <p:nvPr/>
        </p:nvSpPr>
        <p:spPr>
          <a:xfrm>
            <a:off x="6171153" y="2378899"/>
            <a:ext cx="936104" cy="7920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gRPC</a:t>
            </a:r>
            <a:endParaRPr lang="en-US" altLang="ko-KR" sz="1600" dirty="0"/>
          </a:p>
          <a:p>
            <a:pPr algn="ctr"/>
            <a:r>
              <a:rPr lang="en-US" altLang="ko-KR" sz="1600" dirty="0" smtClean="0"/>
              <a:t>SVR</a:t>
            </a:r>
            <a:endParaRPr lang="ko-KR" altLang="en-US" sz="1600" dirty="0"/>
          </a:p>
        </p:txBody>
      </p:sp>
      <p:cxnSp>
        <p:nvCxnSpPr>
          <p:cNvPr id="56" name="직선 화살표 연결선 55"/>
          <p:cNvCxnSpPr>
            <a:endCxn id="18" idx="1"/>
          </p:cNvCxnSpPr>
          <p:nvPr/>
        </p:nvCxnSpPr>
        <p:spPr>
          <a:xfrm>
            <a:off x="7107258" y="2774943"/>
            <a:ext cx="175954" cy="598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4139952" y="2297891"/>
            <a:ext cx="936104" cy="41102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gRPC</a:t>
            </a:r>
            <a:endParaRPr lang="en-US" altLang="ko-KR" sz="1400" b="1" dirty="0" smtClean="0"/>
          </a:p>
          <a:p>
            <a:pPr algn="ctr"/>
            <a:r>
              <a:rPr lang="en-US" altLang="ko-KR" sz="1400" b="1" dirty="0" smtClean="0"/>
              <a:t>Client</a:t>
            </a:r>
            <a:endParaRPr lang="ko-KR" altLang="en-US" sz="1400" b="1" dirty="0"/>
          </a:p>
        </p:txBody>
      </p:sp>
      <p:sp>
        <p:nvSpPr>
          <p:cNvPr id="62" name="직사각형 61"/>
          <p:cNvSpPr/>
          <p:nvPr/>
        </p:nvSpPr>
        <p:spPr>
          <a:xfrm>
            <a:off x="3770852" y="2793126"/>
            <a:ext cx="936104" cy="2415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Meta_SVR</a:t>
            </a:r>
            <a:endParaRPr lang="ko-KR" alt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231740" y="5151508"/>
            <a:ext cx="1339197" cy="73866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dirty="0" err="1" smtClean="0"/>
              <a:t>openVA</a:t>
            </a:r>
            <a:endParaRPr lang="en-US" altLang="ko-KR" sz="700" dirty="0" smtClean="0"/>
          </a:p>
          <a:p>
            <a:r>
              <a:rPr lang="en-US" altLang="ko-KR" sz="700" dirty="0" err="1" smtClean="0"/>
              <a:t>getVAConfig</a:t>
            </a:r>
            <a:endParaRPr lang="en-US" altLang="ko-KR" sz="700" dirty="0" smtClean="0"/>
          </a:p>
          <a:p>
            <a:r>
              <a:rPr lang="en-US" altLang="ko-KR" sz="700" dirty="0" err="1" smtClean="0"/>
              <a:t>closeVA</a:t>
            </a:r>
            <a:endParaRPr lang="en-US" altLang="ko-KR" sz="700" dirty="0" smtClean="0"/>
          </a:p>
          <a:p>
            <a:r>
              <a:rPr lang="en-US" altLang="ko-KR" sz="700" dirty="0" err="1" smtClean="0"/>
              <a:t>getVAScheduleList</a:t>
            </a:r>
            <a:endParaRPr lang="en-US" altLang="ko-KR" sz="700" dirty="0" smtClean="0"/>
          </a:p>
          <a:p>
            <a:r>
              <a:rPr lang="en-US" altLang="ko-KR" sz="700" dirty="0" err="1" smtClean="0"/>
              <a:t>getVASchedule</a:t>
            </a:r>
            <a:endParaRPr lang="en-US" altLang="ko-KR" sz="700" dirty="0" smtClean="0"/>
          </a:p>
          <a:p>
            <a:r>
              <a:rPr lang="en-US" altLang="ko-KR" sz="700" dirty="0" err="1"/>
              <a:t>u</a:t>
            </a:r>
            <a:r>
              <a:rPr lang="en-US" altLang="ko-KR" sz="700" dirty="0" err="1" smtClean="0"/>
              <a:t>pdateVASchedule</a:t>
            </a:r>
            <a:r>
              <a:rPr lang="en-US" altLang="ko-KR" sz="700" dirty="0" smtClean="0"/>
              <a:t> </a:t>
            </a:r>
            <a:endParaRPr lang="ko-KR" altLang="en-US" sz="700" dirty="0"/>
          </a:p>
        </p:txBody>
      </p:sp>
      <p:cxnSp>
        <p:nvCxnSpPr>
          <p:cNvPr id="71" name="꺾인 연결선 70"/>
          <p:cNvCxnSpPr>
            <a:endCxn id="67" idx="3"/>
          </p:cNvCxnSpPr>
          <p:nvPr/>
        </p:nvCxnSpPr>
        <p:spPr>
          <a:xfrm rot="5400000">
            <a:off x="3131553" y="3041914"/>
            <a:ext cx="2918311" cy="2039541"/>
          </a:xfrm>
          <a:prstGeom prst="bentConnector2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2910" y="5429264"/>
            <a:ext cx="1339197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dirty="0" smtClean="0"/>
              <a:t>                         </a:t>
            </a:r>
            <a:r>
              <a:rPr lang="en-US" altLang="ko-KR" sz="800" dirty="0" err="1" smtClean="0"/>
              <a:t>gRPC</a:t>
            </a:r>
            <a:endParaRPr lang="en-US" altLang="ko-KR" sz="800" dirty="0" smtClean="0"/>
          </a:p>
          <a:p>
            <a:r>
              <a:rPr lang="en-US" altLang="ko-KR" sz="800" dirty="0" smtClean="0"/>
              <a:t>                       Pub/Sub</a:t>
            </a:r>
          </a:p>
          <a:p>
            <a:r>
              <a:rPr lang="en-US" altLang="ko-KR" sz="800" dirty="0" smtClean="0"/>
              <a:t>                       </a:t>
            </a:r>
            <a:r>
              <a:rPr lang="en-US" altLang="ko-KR" sz="800" dirty="0" err="1" smtClean="0"/>
              <a:t>WebRTC</a:t>
            </a:r>
            <a:endParaRPr lang="ko-KR" altLang="en-US" sz="800" dirty="0"/>
          </a:p>
        </p:txBody>
      </p:sp>
      <p:cxnSp>
        <p:nvCxnSpPr>
          <p:cNvPr id="54" name="직선 연결선 53"/>
          <p:cNvCxnSpPr/>
          <p:nvPr/>
        </p:nvCxnSpPr>
        <p:spPr>
          <a:xfrm>
            <a:off x="756602" y="5541368"/>
            <a:ext cx="428628" cy="1588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772716" y="5664788"/>
            <a:ext cx="42862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772716" y="5786454"/>
            <a:ext cx="428628" cy="1588"/>
          </a:xfrm>
          <a:prstGeom prst="line">
            <a:avLst/>
          </a:prstGeom>
          <a:ln>
            <a:solidFill>
              <a:srgbClr val="00B05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0411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일리시스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지능형 영상 분석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 비전센서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한화 카메라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OpenApp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관리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 Architecture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 Platform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VA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어플리케이션 개발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영상 분석 기능 개발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React.js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기술을 사용한 웹 기반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UX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  <a:p>
                      <a:pPr lvl="0" latinLnBrk="1"/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모서리가 둥근 직사각형 89"/>
          <p:cNvSpPr/>
          <p:nvPr/>
        </p:nvSpPr>
        <p:spPr>
          <a:xfrm>
            <a:off x="3316280" y="2007271"/>
            <a:ext cx="3459386" cy="116783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91355" y="1496392"/>
            <a:ext cx="5832648" cy="487601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3259165" y="4003077"/>
            <a:ext cx="4732888" cy="14593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657636" y="2208394"/>
            <a:ext cx="1121747" cy="738664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1400" dirty="0" smtClean="0"/>
              <a:t>VA Engine</a:t>
            </a:r>
          </a:p>
          <a:p>
            <a:pPr algn="ctr"/>
            <a:endParaRPr lang="en-US" altLang="ko-KR" sz="1400" dirty="0" smtClean="0"/>
          </a:p>
          <a:p>
            <a:pPr algn="ctr"/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574889" y="4069745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b="1" dirty="0" err="1" smtClean="0"/>
              <a:t>스트리밍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32" name="순서도: 자기 디스크 131"/>
          <p:cNvSpPr/>
          <p:nvPr/>
        </p:nvSpPr>
        <p:spPr>
          <a:xfrm>
            <a:off x="3702751" y="2555053"/>
            <a:ext cx="1031516" cy="336480"/>
          </a:xfrm>
          <a:prstGeom prst="flowChartMagneticDisk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Metadata</a:t>
            </a:r>
            <a:endParaRPr lang="ko-KR" altLang="en-US" sz="1200" b="1" dirty="0"/>
          </a:p>
        </p:txBody>
      </p:sp>
      <p:sp>
        <p:nvSpPr>
          <p:cNvPr id="188" name="TextBox 187"/>
          <p:cNvSpPr txBox="1"/>
          <p:nvPr/>
        </p:nvSpPr>
        <p:spPr>
          <a:xfrm>
            <a:off x="6852949" y="1124744"/>
            <a:ext cx="1671053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Open Platform </a:t>
            </a:r>
            <a:endParaRPr lang="ko-KR" altLang="en-US" sz="1400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1957701" y="4153274"/>
            <a:ext cx="1253490" cy="5078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900" b="1" dirty="0" smtClean="0"/>
              <a:t>Channel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900" b="1" dirty="0" smtClean="0"/>
              <a:t>VA </a:t>
            </a:r>
            <a:r>
              <a:rPr lang="en-US" altLang="ko-KR" sz="900" b="1" dirty="0" err="1" smtClean="0"/>
              <a:t>Config</a:t>
            </a:r>
            <a:endParaRPr lang="en-US" altLang="ko-KR" sz="9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900" b="1" dirty="0" smtClean="0"/>
              <a:t>S/W Manage</a:t>
            </a:r>
            <a:endParaRPr lang="ko-KR" altLang="en-US" sz="900" b="1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11523" y="4130985"/>
            <a:ext cx="894561" cy="11042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/>
                </a:solidFill>
              </a:rPr>
              <a:t>웹서버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645288" y="3090742"/>
            <a:ext cx="1312413" cy="28874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</a:rPr>
              <a:t>r</a:t>
            </a: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 smtClean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 smtClean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 smtClean="0">
              <a:solidFill>
                <a:schemeClr val="tx1"/>
              </a:solidFill>
            </a:endParaRP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 smtClean="0">
              <a:solidFill>
                <a:schemeClr val="tx1"/>
              </a:solidFill>
            </a:endParaRPr>
          </a:p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728982" y="3321446"/>
            <a:ext cx="1078927" cy="171442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altLang="ko-KR" sz="1600" b="1" dirty="0">
              <a:solidFill>
                <a:schemeClr val="tx1"/>
              </a:solidFill>
            </a:endParaRPr>
          </a:p>
          <a:p>
            <a:pPr algn="ctr"/>
            <a:endParaRPr lang="en-US" altLang="ko-KR" sz="1600" b="1" dirty="0" smtClean="0">
              <a:solidFill>
                <a:schemeClr val="tx1"/>
              </a:solidFill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766759" y="3686194"/>
            <a:ext cx="860401" cy="5215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Live Player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777449" y="4437872"/>
            <a:ext cx="860401" cy="5215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VA  </a:t>
            </a:r>
            <a:r>
              <a:rPr lang="en-US" altLang="ko-KR" sz="1000" b="1" dirty="0" err="1" smtClean="0">
                <a:solidFill>
                  <a:schemeClr val="tx1"/>
                </a:solidFill>
              </a:rPr>
              <a:t>Config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7143436" y="2285339"/>
            <a:ext cx="756084" cy="93629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FE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41" name="꺾인 연결선 40"/>
          <p:cNvCxnSpPr/>
          <p:nvPr/>
        </p:nvCxnSpPr>
        <p:spPr>
          <a:xfrm>
            <a:off x="1866521" y="1816935"/>
            <a:ext cx="5654957" cy="480215"/>
          </a:xfrm>
          <a:prstGeom prst="bentConnector2">
            <a:avLst/>
          </a:prstGeom>
          <a:ln w="85725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7583980" y="3235057"/>
            <a:ext cx="0" cy="1096298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46921" y="4422423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Network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00" name="TextBox 99"/>
          <p:cNvSpPr txBox="1"/>
          <p:nvPr/>
        </p:nvSpPr>
        <p:spPr>
          <a:xfrm>
            <a:off x="4574889" y="4437449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Record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03" name="TextBox 102"/>
          <p:cNvSpPr txBox="1"/>
          <p:nvPr/>
        </p:nvSpPr>
        <p:spPr>
          <a:xfrm>
            <a:off x="4574889" y="4851967"/>
            <a:ext cx="926670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Device IO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04" name="TextBox 103"/>
          <p:cNvSpPr txBox="1"/>
          <p:nvPr/>
        </p:nvSpPr>
        <p:spPr>
          <a:xfrm>
            <a:off x="5646921" y="4825485"/>
            <a:ext cx="1120996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S/W Manage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030777" y="4352296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Video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09" name="TextBox 108"/>
          <p:cNvSpPr txBox="1"/>
          <p:nvPr/>
        </p:nvSpPr>
        <p:spPr>
          <a:xfrm>
            <a:off x="5646921" y="4057770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ONVIF 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cxnSp>
        <p:nvCxnSpPr>
          <p:cNvPr id="86" name="꺾인 연결선 85"/>
          <p:cNvCxnSpPr>
            <a:stCxn id="31" idx="0"/>
            <a:endCxn id="81" idx="3"/>
          </p:cNvCxnSpPr>
          <p:nvPr/>
        </p:nvCxnSpPr>
        <p:spPr>
          <a:xfrm rot="16200000" flipV="1">
            <a:off x="3234139" y="2340002"/>
            <a:ext cx="122765" cy="3336721"/>
          </a:xfrm>
          <a:prstGeom prst="bentConnector2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endCxn id="11" idx="1"/>
          </p:cNvCxnSpPr>
          <p:nvPr/>
        </p:nvCxnSpPr>
        <p:spPr>
          <a:xfrm>
            <a:off x="1656172" y="4683122"/>
            <a:ext cx="1755351" cy="1"/>
          </a:xfrm>
          <a:prstGeom prst="straightConnector1">
            <a:avLst/>
          </a:prstGeom>
          <a:ln w="317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모서리가 둥근 직사각형 127"/>
          <p:cNvSpPr/>
          <p:nvPr/>
        </p:nvSpPr>
        <p:spPr>
          <a:xfrm>
            <a:off x="796864" y="5122542"/>
            <a:ext cx="910884" cy="5215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S/W </a:t>
            </a:r>
          </a:p>
          <a:p>
            <a:pPr algn="ctr"/>
            <a:r>
              <a:rPr lang="en-US" altLang="ko-KR" sz="1000" b="1" dirty="0" smtClean="0">
                <a:solidFill>
                  <a:schemeClr val="tx1"/>
                </a:solidFill>
              </a:rPr>
              <a:t>Manage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101" name="꺾인 연결선 100"/>
          <p:cNvCxnSpPr/>
          <p:nvPr/>
        </p:nvCxnSpPr>
        <p:spPr>
          <a:xfrm flipV="1">
            <a:off x="1707748" y="4698657"/>
            <a:ext cx="1681370" cy="719802"/>
          </a:xfrm>
          <a:prstGeom prst="bentConnector3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11" idx="0"/>
          </p:cNvCxnSpPr>
          <p:nvPr/>
        </p:nvCxnSpPr>
        <p:spPr>
          <a:xfrm flipH="1" flipV="1">
            <a:off x="3858803" y="3918443"/>
            <a:ext cx="1" cy="21254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030777" y="4820802"/>
            <a:ext cx="777983" cy="26161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Camera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  <p:sp>
        <p:nvSpPr>
          <p:cNvPr id="137" name="TextBox 136"/>
          <p:cNvSpPr txBox="1"/>
          <p:nvPr/>
        </p:nvSpPr>
        <p:spPr>
          <a:xfrm>
            <a:off x="2908949" y="3282661"/>
            <a:ext cx="113568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Video Frame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VA Schedule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VA </a:t>
            </a:r>
            <a:r>
              <a:rPr lang="en-US" altLang="ko-KR" sz="800" b="1" dirty="0" err="1" smtClean="0"/>
              <a:t>Config</a:t>
            </a:r>
            <a:endParaRPr lang="ko-KR" altLang="en-US" sz="800" b="1" dirty="0"/>
          </a:p>
        </p:txBody>
      </p:sp>
      <p:sp>
        <p:nvSpPr>
          <p:cNvPr id="145" name="TextBox 144"/>
          <p:cNvSpPr txBox="1"/>
          <p:nvPr/>
        </p:nvSpPr>
        <p:spPr>
          <a:xfrm>
            <a:off x="5723903" y="3282661"/>
            <a:ext cx="175297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VA Metadata , ONVIF Topic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Counting , Dwell , </a:t>
            </a:r>
            <a:r>
              <a:rPr lang="en-US" altLang="ko-KR" sz="800" b="1" dirty="0" err="1" smtClean="0"/>
              <a:t>Heatmap</a:t>
            </a:r>
            <a:endParaRPr lang="en-US" altLang="ko-KR" sz="8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800" b="1" dirty="0" smtClean="0"/>
              <a:t>Event ,  Alarm</a:t>
            </a:r>
            <a:endParaRPr lang="ko-KR" altLang="en-US" sz="800" b="1" dirty="0"/>
          </a:p>
        </p:txBody>
      </p:sp>
      <p:sp>
        <p:nvSpPr>
          <p:cNvPr id="153" name="TextBox 152"/>
          <p:cNvSpPr txBox="1"/>
          <p:nvPr/>
        </p:nvSpPr>
        <p:spPr>
          <a:xfrm>
            <a:off x="1941138" y="3534670"/>
            <a:ext cx="96781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900" b="1" dirty="0" smtClean="0"/>
              <a:t>Video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900" b="1" dirty="0" smtClean="0"/>
              <a:t>Metadata</a:t>
            </a:r>
            <a:endParaRPr lang="ko-KR" altLang="en-US" sz="900" b="1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044638" y="3271063"/>
            <a:ext cx="1645836" cy="6329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C00000"/>
                </a:solidFill>
              </a:rPr>
              <a:t>Integrator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ko-KR" sz="800" b="1" dirty="0" smtClean="0">
                <a:solidFill>
                  <a:schemeClr val="tx1"/>
                </a:solidFill>
              </a:rPr>
              <a:t>VA , Email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ko-KR" sz="800" b="1" dirty="0" smtClean="0">
                <a:solidFill>
                  <a:schemeClr val="tx1"/>
                </a:solidFill>
              </a:rPr>
              <a:t>Ftp ,Alarm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ko-KR" sz="800" b="1" dirty="0" smtClean="0">
                <a:solidFill>
                  <a:schemeClr val="tx1"/>
                </a:solidFill>
              </a:rPr>
              <a:t>Record, Metadata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altLang="ko-KR" sz="800" b="1" dirty="0" smtClean="0">
                <a:solidFill>
                  <a:schemeClr val="tx1"/>
                </a:solidFill>
              </a:rPr>
              <a:t>Event I/O ,Schedule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3858804" y="3192619"/>
            <a:ext cx="0" cy="725824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모서리가 둥근 직사각형 138"/>
          <p:cNvSpPr/>
          <p:nvPr/>
        </p:nvSpPr>
        <p:spPr>
          <a:xfrm>
            <a:off x="3324030" y="5717420"/>
            <a:ext cx="4732889" cy="52157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Arm Linux OS/ XNO-6080R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1560" y="2754257"/>
            <a:ext cx="1295548" cy="307777"/>
          </a:xfrm>
          <a:prstGeom prst="rect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     Browser</a:t>
            </a:r>
            <a:endParaRPr lang="ko-KR" altLang="en-US" sz="14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52350" y="1326970"/>
            <a:ext cx="972694" cy="1205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061" y="1998256"/>
            <a:ext cx="535605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IVA</a:t>
            </a:r>
            <a:endParaRPr lang="ko-KR" alt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5297064" y="2245202"/>
            <a:ext cx="1121747" cy="646331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1200" dirty="0" err="1" smtClean="0"/>
              <a:t>MetaData</a:t>
            </a:r>
            <a:endParaRPr lang="en-US" altLang="ko-KR" sz="1200" dirty="0" smtClean="0"/>
          </a:p>
          <a:p>
            <a:pPr algn="ctr"/>
            <a:r>
              <a:rPr lang="en-US" altLang="ko-KR" sz="1200" dirty="0" smtClean="0"/>
              <a:t>Stream Server</a:t>
            </a:r>
            <a:endParaRPr lang="ko-KR" altLang="en-US" sz="1200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4779383" y="2532050"/>
            <a:ext cx="51768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038223" y="2532050"/>
            <a:ext cx="15500" cy="153769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제목 1"/>
          <p:cNvSpPr txBox="1">
            <a:spLocks/>
          </p:cNvSpPr>
          <p:nvPr/>
        </p:nvSpPr>
        <p:spPr>
          <a:xfrm>
            <a:off x="112364" y="139485"/>
            <a:ext cx="8907651" cy="805913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/>
              <a:t>IVA</a:t>
            </a:r>
            <a:r>
              <a:rPr lang="ko-KR" altLang="en-US" sz="3200" dirty="0" smtClean="0"/>
              <a:t> 구성도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16349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일리시스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지능형 영상 분석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 비전센서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이상음원센서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웹 어플리케이션 개발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MEAN (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mongodb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express,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angularjs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node )  Stack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기술 적용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관리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네트웍설정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서비스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검지 설정 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발생시 이벤트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알람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스트리밍을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위해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SBOX S/W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와 연동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이상음원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시그널 레벨 출력을 위한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챠트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출력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로그저장 및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알람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이벤트 이력 저장을 위해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MongoDB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연동 </a:t>
                      </a:r>
                    </a:p>
                    <a:p>
                      <a:pPr lvl="0" latinLnBrk="1"/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일리시스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지능형 영상 분석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 비전센서 개발 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 비전 센서 개발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TI DM8127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칩셋기반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글로벌 전문기술 과제로서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IP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카메라에 지능형 영상 분석 기술을 탑재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 DSP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상에 영상분석 엔진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및 정합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카메라 영상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스트림을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전송을 위한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IVCP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스트림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서버 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영상 분석엔진에서 생성한 메타데이터 전송을 위한 메타데이터 전송    서버 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단위 테스트와 통합테스트를 위해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Testing  framework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IVCP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클라이언트와 세션제어 및 영상 분석 엔진과 연동을 위한 서버 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카메라  설정을 위한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Web UI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개발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Angularjs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프레임웤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Html5 </a:t>
                      </a:r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Web UI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Live Video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재생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비디오 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카메라 센서 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네트웤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Date/Time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29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지우미디어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6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안드로이드박스</a:t>
                      </a: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무선멀티미디어 전송장치 개발</a:t>
                      </a:r>
                      <a:endParaRPr lang="ko-KR" alt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무선 멀티미디어 전송장치 개발 </a:t>
                      </a:r>
                      <a:endParaRPr lang="ko-KR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C++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툴을 사용하여 윈도우 기반 무선공유기 통합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관리툴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Realtek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유무선 공유기 기술과 멀티미디어 전송기술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컨버전스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제품 개발 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장치 드라이버 및 통합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관리툴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설치를 위한 윈도우 기반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Installer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Wireless USB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서버 테스트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/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가온미디어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미들웨어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IPTV/HBBTV/Hybrid </a:t>
                      </a:r>
                      <a:r>
                        <a:rPr lang="ko-KR" alt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메가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IPTV  </a:t>
                      </a:r>
                      <a:r>
                        <a:rPr lang="ko-KR" altLang="en-US" sz="1800" b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  </a:t>
                      </a:r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Intel CE 2110 (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Olo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River) </a:t>
                      </a:r>
                      <a:r>
                        <a:rPr lang="ko-KR" altLang="en-US" sz="1800" b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칩셋</a:t>
                      </a:r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기반</a:t>
                      </a:r>
                      <a:endParaRPr lang="ko-KR" altLang="en-US" sz="105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IPTV S/W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구조 상위설계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EPG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다운로드 및 관리 기능</a:t>
                      </a:r>
                      <a:endParaRPr lang="en-US" altLang="ko-K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광고 다운로드 및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재생</a:t>
                      </a:r>
                      <a:endParaRPr lang="en-US" altLang="ko-K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VOD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다운로드 및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컨텐츠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예약 다운로드</a:t>
                      </a:r>
                      <a:endParaRPr lang="en-US" altLang="ko-K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업그레이드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커널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빌드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및 루트파일 시스템 구성</a:t>
                      </a:r>
                      <a:r>
                        <a:rPr lang="en-US" altLang="ko-K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부트로더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 </a:t>
                      </a:r>
                    </a:p>
                    <a:p>
                      <a:pPr latinLnBrk="1">
                        <a:buFont typeface="Wingdings" pitchFamily="2" charset="2"/>
                        <a:buChar char="Ø"/>
                      </a:pP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가온미디어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미들웨어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IPTV/HBBTV/Hybrid </a:t>
                      </a:r>
                      <a:r>
                        <a:rPr lang="ko-KR" alt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Hybrid  </a:t>
                      </a:r>
                      <a:r>
                        <a:rPr lang="ko-KR" altLang="en-US" sz="1800" b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  </a:t>
                      </a:r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ko-KR" altLang="en-US" sz="105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Cable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방송과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IP VOD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기능 이 융합된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Hybrid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셋탑박스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DVB Core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와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자바스크립트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DOM Layer )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연동을 위한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Application Manager 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Nordic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스펙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VOD IP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Headend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와 정합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시나리오 및 기능명세 협의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채널 스캔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정합및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매뉴얼 작성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Cable Ready 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인증 획득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EPG, Zapper,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레코딩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어플리케이션 개발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Conax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Security Evaluation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커널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Hardening,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Mandarory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Access Control ,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FireWall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셋업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경력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46"/>
                <a:gridCol w="64722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회사명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모다 정보 통신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 /</a:t>
                      </a:r>
                      <a:r>
                        <a:rPr lang="ko-KR" alt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망관리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S/W/</a:t>
                      </a:r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화상통화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S/W</a:t>
                      </a:r>
                      <a:r>
                        <a:rPr lang="ko-KR" alt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endParaRPr lang="ko-KR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프로젝트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U1EP </a:t>
                      </a:r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S/W </a:t>
                      </a:r>
                      <a:r>
                        <a:rPr lang="ko-KR" alt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endParaRPr lang="ko-KR" altLang="en-US" sz="105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업무 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SKVM 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Wavelet 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및 신규 기능 개발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이벤트 핸들링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Wavelet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컨텐츠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재생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벨 사운드 출력</a:t>
                      </a:r>
                      <a:r>
                        <a:rPr lang="ko-KR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처리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Wavelet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컨텐츠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삭제 </a:t>
                      </a: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PPP 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소켓 연동을 통한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컨텐츠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다운로드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서비스 </a:t>
                      </a:r>
                    </a:p>
                    <a:p>
                      <a:pPr lvl="0" latinLnBrk="1">
                        <a:buFont typeface="Wingdings" pitchFamily="2" charset="2"/>
                        <a:buChar char="Ø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EQUS UI </a:t>
                      </a: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엔진 </a:t>
                      </a:r>
                      <a:r>
                        <a:rPr lang="ko-KR" altLang="en-US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latinLnBrk="1">
                        <a:buFont typeface="Wingdings" pitchFamily="2" charset="2"/>
                        <a:buChar char="ü"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사용되는 각종 컨트롤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텍스트 에디터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팝업메뉴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메시지 박스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스크롤 리스트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타이머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애니메이션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이미지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) 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 latinLnBrk="1"/>
                      <a:endParaRPr lang="ko-KR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흐름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834</TotalTime>
  <Words>1841</Words>
  <Application>Microsoft Office PowerPoint</Application>
  <PresentationFormat>화면 슬라이드 쇼(4:3)</PresentationFormat>
  <Paragraphs>507</Paragraphs>
  <Slides>25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흐름</vt:lpstr>
      <vt:lpstr>경력 소개서</vt:lpstr>
      <vt:lpstr>학력사항</vt:lpstr>
      <vt:lpstr>경력 요약</vt:lpstr>
      <vt:lpstr>업무상 주요 강점 및 핵심역량(1)</vt:lpstr>
      <vt:lpstr>업무상 주요 강점 및 핵심역량(2)</vt:lpstr>
      <vt:lpstr>주요 경력</vt:lpstr>
      <vt:lpstr>     마케팅광고영상 제작 솔류션 </vt:lpstr>
      <vt:lpstr>주요 경력</vt:lpstr>
      <vt:lpstr>         AI 상담 복지사 S/W</vt:lpstr>
      <vt:lpstr>주요 경력</vt:lpstr>
      <vt:lpstr>              곤충 로봇 S/W </vt:lpstr>
      <vt:lpstr>주요 경력</vt:lpstr>
      <vt:lpstr>                          A2RL Network</vt:lpstr>
      <vt:lpstr>             Training A2RL Network</vt:lpstr>
      <vt:lpstr>딥러닝 기반  Spine Fracture진단 모델 개발</vt:lpstr>
      <vt:lpstr>주요 경력</vt:lpstr>
      <vt:lpstr>                          VA System</vt:lpstr>
      <vt:lpstr>주요 경력</vt:lpstr>
      <vt:lpstr>슬라이드 19</vt:lpstr>
      <vt:lpstr>주요 경력</vt:lpstr>
      <vt:lpstr>주요 경력</vt:lpstr>
      <vt:lpstr>주요 경력</vt:lpstr>
      <vt:lpstr>주요 경력</vt:lpstr>
      <vt:lpstr>주요 경력</vt:lpstr>
      <vt:lpstr>주요 경력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경력 소개</dc:title>
  <dc:creator>jhpark</dc:creator>
  <cp:lastModifiedBy>jhpark1</cp:lastModifiedBy>
  <cp:revision>377</cp:revision>
  <dcterms:created xsi:type="dcterms:W3CDTF">2017-10-10T16:52:24Z</dcterms:created>
  <dcterms:modified xsi:type="dcterms:W3CDTF">2026-01-16T03:51:14Z</dcterms:modified>
</cp:coreProperties>
</file>